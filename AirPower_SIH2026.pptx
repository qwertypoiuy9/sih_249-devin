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Before</c:v>
                </c:pt>
              </c:strCache>
            </c:strRef>
          </c:tx>
          <c:spPr>
            <a:solidFill>
              <a:srgbClr val="9AA9B8"/>
            </a:solidFill>
            <a:ln>
              <a:noFill/>
            </a:ln>
          </c:spPr>
          <c:invertIfNegative val="0"/>
          <c:cat>
            <c:strRef>
              <c:f>Sheet1!$A$2:$A$5</c:f>
              <c:strCache>
                <c:ptCount val="4"/>
                <c:pt idx="0">
                  <c:v>Fleet availability</c:v>
                </c:pt>
                <c:pt idx="1">
                  <c:v>Mission capable</c:v>
                </c:pt>
                <c:pt idx="2">
                  <c:v>Spares fill rate</c:v>
                </c:pt>
                <c:pt idx="3">
                  <c:v>Reactive work share</c:v>
                </c:pt>
              </c:strCache>
            </c:strRef>
          </c:cat>
          <c:val>
            <c:numRef>
              <c:f>Sheet1!$B$2:$B$5</c:f>
              <c:numCache>
                <c:formatCode>General</c:formatCode>
                <c:ptCount val="4"/>
                <c:pt idx="0">
                  <c:v>68</c:v>
                </c:pt>
                <c:pt idx="1">
                  <c:v>74</c:v>
                </c:pt>
                <c:pt idx="2">
                  <c:v>71</c:v>
                </c:pt>
                <c:pt idx="3">
                  <c:v>69</c:v>
                </c:pt>
              </c:numCache>
            </c:numRef>
          </c:val>
        </c:ser>
        <c:ser>
          <c:idx val="1"/>
          <c:order val="1"/>
          <c:tx>
            <c:strRef>
              <c:f>Sheet1!$C$1</c:f>
              <c:strCache>
                <c:ptCount val="1"/>
                <c:pt idx="0">
                  <c:v>With AirPower</c:v>
                </c:pt>
              </c:strCache>
            </c:strRef>
          </c:tx>
          <c:spPr>
            <a:solidFill>
              <a:srgbClr val="0070C0"/>
            </a:solidFill>
            <a:ln>
              <a:noFill/>
            </a:ln>
          </c:spPr>
          <c:invertIfNegative val="0"/>
          <c:cat>
            <c:strRef>
              <c:f>Sheet1!$A$2:$A$5</c:f>
              <c:strCache>
                <c:ptCount val="4"/>
                <c:pt idx="0">
                  <c:v>Fleet availability</c:v>
                </c:pt>
                <c:pt idx="1">
                  <c:v>Mission capable</c:v>
                </c:pt>
                <c:pt idx="2">
                  <c:v>Spares fill rate</c:v>
                </c:pt>
                <c:pt idx="3">
                  <c:v>Reactive work share</c:v>
                </c:pt>
              </c:strCache>
            </c:strRef>
          </c:cat>
          <c:val>
            <c:numRef>
              <c:f>Sheet1!$C$2:$C$5</c:f>
              <c:numCache>
                <c:formatCode>General</c:formatCode>
                <c:ptCount val="4"/>
                <c:pt idx="0">
                  <c:v>75</c:v>
                </c:pt>
                <c:pt idx="1">
                  <c:v>80</c:v>
                </c:pt>
                <c:pt idx="2">
                  <c:v>100</c:v>
                </c:pt>
                <c:pt idx="3">
                  <c:v>31</c:v>
                </c:pt>
              </c:numCache>
            </c:numRef>
          </c:val>
        </c:ser>
        <c:dLbls>
          <c:numFmt formatCode="0&quot;%&quot;" sourceLinked="0"/>
          <c:txPr>
            <a:bodyPr/>
            <a:lstStyle/>
            <a:p>
              <a:pPr>
                <a:defRPr sz="1100" b="1">
                  <a:latin typeface="Arial"/>
                </a:defRPr>
              </a:pPr>
            </a:p>
          </c:txPr>
          <c:dLblPos val="outEnd"/>
          <c:showLegendKey val="0"/>
          <c:showVal val="1"/>
          <c:showCatName val="0"/>
          <c:showSerName val="0"/>
          <c:showPercent val="0"/>
          <c:showBubbleSize val="0"/>
          <c:showLeaderLines val="1"/>
        </c:dLbls>
        <c:gapWidth val="70"/>
        <c:overlap val="-5"/>
        <c:axId val="-2068027336"/>
        <c:axId val="-2113994440"/>
      </c:barChart>
      <c:catAx>
        <c:axId val="-2068027336"/>
        <c:scaling>
          <c:orientation val="minMax"/>
        </c:scaling>
        <c:delete val="0"/>
        <c:axPos val="b"/>
        <c:majorTickMark val="out"/>
        <c:minorTickMark val="none"/>
        <c:tickLblPos val="nextTo"/>
        <c:spPr>
          <a:ln>
            <a:solidFill>
              <a:srgbClr val="BFD9F0"/>
            </a:solidFill>
          </a:ln>
        </c:spPr>
        <c:txPr>
          <a:bodyPr/>
          <a:lstStyle/>
          <a:p>
            <a:pPr>
              <a:defRPr sz="1050">
                <a:solidFill>
                  <a:srgbClr val="5A6B7B"/>
                </a:solidFill>
              </a:defRPr>
            </a:pPr>
          </a:p>
        </c:txPr>
        <c:crossAx val="-2113994440"/>
        <c:crosses val="autoZero"/>
        <c:auto val="1"/>
        <c:lblAlgn val="ctr"/>
        <c:lblOffset val="100"/>
        <c:noMultiLvlLbl val="0"/>
      </c:catAx>
      <c:valAx>
        <c:axId val="-2113994440"/>
        <c:scaling>
          <c:max val="115.0"/>
          <c:min val="0.0"/>
        </c:scaling>
        <c:delete/>
        <c:axPos val="l"/>
        <c:majorTickMark val="out"/>
        <c:minorTickMark val="none"/>
        <c:tickLblPos val="nextTo"/>
        <c:crossAx val="-2068027336"/>
        <c:crosses val="autoZero"/>
      </c:valAx>
    </c:plotArea>
    <c:legend>
      <c:legendPos val="b"/>
      <c:overlay val="0"/>
      <c:txPr>
        <a:bodyPr/>
        <a:lstStyle/>
        <a:p>
          <a:pPr>
            <a:defRPr sz="1050">
              <a:solidFill>
                <a:srgbClr val="5A6B7B"/>
              </a:solidFill>
              <a:latin typeface="Arial"/>
            </a:defRPr>
          </a:pPr>
        </a:p>
      </c:txPr>
    </c:legend>
    <c:dispBlanksAs val="gap"/>
  </c:chart>
  <c:txPr>
    <a:bodyPr/>
    <a:lstStyle/>
    <a:p>
      <a:pPr>
        <a:defRPr sz="18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Say: the problem is not 'we lack AI' - prediction is worthless if it never reaches the person who schedules the work and orders the part. AirPower is a closed loop: detect, predict, recommend, acknowledge, raise work order, indent spare, audit. Each arrow is a real, clickable, state-persisting action in the prototype.</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Detection, actions and integration logic are real code; the data source and RUL training are simulated, with a documented training path. The same detector function runs over the live 2-second stream and over an imported real CSV. Bundle is 248 KB JS (78 KB gzipped) - nothing to audit, deployable anywhere including a private network.</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Be upfront: real today = detection algorithm, closed-loop actions with persistence, integration logic, digital-twin UI, CSV import, metrics derivation. Simulated today = the data generator and the RUL outputs. Biggest honest gap is trained RUL models, which need ~3 years of fleet history - roadmap step 2.</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One sentence per KPI. Culture-shift line: 69% of work used to be reactive; now 31% is - the fleet goes into maintenance because we decided it. Be explicit that numbers are from the simulated 20-airframe prototype; the point is that the mechanism and the metrics are all measurable once real data is connected.</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References support three claims: our detector uses classic, well-understood change-detection methods (CUSUM, EWMA); our integration follows open standards; and the F-35 ALIS to ODIN history is why we insist on open architecture and data ownership.</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thesis: integrate the four data sources, predict days earlier, act before the aircraft is grounded, and availability goes up. Fill Team ID and Team Name exactly as registered on the SIH portal.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hyperlink" Target="https://airpower-predictive-maintenance.vercel.app" TargetMode="External"/><Relationship Id="rId6" Type="http://schemas.openxmlformats.org/officeDocument/2006/relationships/hyperlink" Target="https://github.com/qwertypoiuy9/SIH_249-devi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3200" b="1" dirty="0">
                <a:solidFill>
                  <a:schemeClr val="tx2"/>
                </a:solidFill>
                <a:latin typeface="Garamond" panose="02020404030301010803" pitchFamily="18" charset="0"/>
              </a:rPr>
              <a:t>SMART INDIA HACKATHON </a:t>
            </a:r>
            <a:r>
              <a:rPr lang="en-US" sz="32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sp>
        <p:nvSpPr>
          <p:cNvPr id="10" name="TextBox 9"/>
          <p:cNvSpPr txBox="1"/>
          <p:nvPr/>
        </p:nvSpPr>
        <p:spPr>
          <a:xfrm>
            <a:off x="411480" y="2331720"/>
            <a:ext cx="5486400" cy="4703019"/>
          </a:xfrm>
          <a:prstGeom prst="rect">
            <a:avLst/>
          </a:prstGeom>
          <a:noFill/>
        </p:spPr>
        <p:txBody>
          <a:bodyPr wrap="square" rtlCol="0"/>
          <a:lstStyle/>
          <a:p>
            <a:pPr marL="285750" indent="-285750" algn="l">
              <a:lnSpc>
                <a:spcPct val="130000"/>
              </a:lnSpc>
              <a:spcAft>
                <a:spcPts val="600"/>
              </a:spcAft>
              <a:buFont typeface="Arial" panose="020B0604020202020204" pitchFamily="34" charset="0"/>
              <a:buChar char="•"/>
            </a:pPr>
            <a:r>
              <a:rPr lang="en-US" sz="1600" b="1" dirty="0">
                <a:solidFill>
                  <a:srgbClr val="0B2A4A"/>
                </a:solidFill>
                <a:latin typeface="Arial" panose="020B0604020202020204" pitchFamily="34" charset="0"/>
                <a:cs typeface="Arial" panose="020B0604020202020204" pitchFamily="34" charset="0"/>
              </a:rPr>
              <a:t>Problem Statement ID – </a:t>
            </a:r>
            <a:r>
              <a:rPr lang="en-US" sz="1600" b="0" dirty="0">
                <a:solidFill>
                  <a:srgbClr val="1B2733"/>
                </a:solidFill>
                <a:latin typeface="Arial" panose="020B0604020202020204" pitchFamily="34" charset="0"/>
                <a:cs typeface="Arial" panose="020B0604020202020204" pitchFamily="34" charset="0"/>
              </a:rPr>
              <a:t>26249</a:t>
            </a:r>
          </a:p>
          <a:p>
            <a:pPr marL="285750" indent="-285750" algn="l">
              <a:lnSpc>
                <a:spcPct val="130000"/>
              </a:lnSpc>
              <a:spcAft>
                <a:spcPts val="600"/>
              </a:spcAft>
              <a:buFont typeface="Arial" panose="020B0604020202020204" pitchFamily="34" charset="0"/>
              <a:buChar char="•"/>
            </a:pPr>
            <a:r>
              <a:rPr lang="en-US" sz="1600" b="1" dirty="0">
                <a:solidFill>
                  <a:srgbClr val="0B2A4A"/>
                </a:solidFill>
                <a:latin typeface="Arial" panose="020B0604020202020204" pitchFamily="34" charset="0"/>
                <a:cs typeface="Arial" panose="020B0604020202020204" pitchFamily="34" charset="0"/>
              </a:rPr>
              <a:t>Problem Statement Title – </a:t>
            </a:r>
            <a:r>
              <a:rPr lang="en-US" sz="1600" b="0" dirty="0">
                <a:solidFill>
                  <a:srgbClr val="1B2733"/>
                </a:solidFill>
                <a:latin typeface="Arial" panose="020B0604020202020204" pitchFamily="34" charset="0"/>
                <a:cs typeface="Arial" panose="020B0604020202020204" pitchFamily="34" charset="0"/>
              </a:rPr>
              <a:t>Air Power – Predictive Maintenance &amp; Fleet Availability</a:t>
            </a:r>
          </a:p>
          <a:p>
            <a:pPr marL="285750" indent="-285750" algn="l">
              <a:lnSpc>
                <a:spcPct val="130000"/>
              </a:lnSpc>
              <a:spcAft>
                <a:spcPts val="600"/>
              </a:spcAft>
              <a:buFont typeface="Arial" panose="020B0604020202020204" pitchFamily="34" charset="0"/>
              <a:buChar char="•"/>
            </a:pPr>
            <a:r>
              <a:rPr lang="en-US" sz="1600" b="1" dirty="0">
                <a:solidFill>
                  <a:srgbClr val="0B2A4A"/>
                </a:solidFill>
                <a:latin typeface="Arial" panose="020B0604020202020204" pitchFamily="34" charset="0"/>
                <a:cs typeface="Arial" panose="020B0604020202020204" pitchFamily="34" charset="0"/>
              </a:rPr>
              <a:t>Theme – </a:t>
            </a:r>
            <a:r>
              <a:rPr lang="en-US" sz="1600" b="0" dirty="0">
                <a:solidFill>
                  <a:srgbClr val="1B2733"/>
                </a:solidFill>
                <a:latin typeface="Arial" panose="020B0604020202020204" pitchFamily="34" charset="0"/>
                <a:cs typeface="Arial" panose="020B0604020202020204" pitchFamily="34" charset="0"/>
              </a:rPr>
              <a:t>Transportation &amp; Logistics</a:t>
            </a:r>
          </a:p>
          <a:p>
            <a:pPr marL="285750" indent="-285750" algn="l">
              <a:lnSpc>
                <a:spcPct val="130000"/>
              </a:lnSpc>
              <a:spcAft>
                <a:spcPts val="600"/>
              </a:spcAft>
              <a:buFont typeface="Arial" panose="020B0604020202020204" pitchFamily="34" charset="0"/>
              <a:buChar char="•"/>
            </a:pPr>
            <a:r>
              <a:rPr lang="en-US" sz="1600" b="1" dirty="0">
                <a:solidFill>
                  <a:srgbClr val="0B2A4A"/>
                </a:solidFill>
                <a:latin typeface="Arial" panose="020B0604020202020204" pitchFamily="34" charset="0"/>
                <a:cs typeface="Arial" panose="020B0604020202020204" pitchFamily="34" charset="0"/>
              </a:rPr>
              <a:t>PS Category – </a:t>
            </a:r>
            <a:r>
              <a:rPr lang="en-US" sz="1600" b="0" dirty="0">
                <a:solidFill>
                  <a:srgbClr val="1B2733"/>
                </a:solidFill>
                <a:latin typeface="Arial" panose="020B0604020202020204" pitchFamily="34" charset="0"/>
                <a:cs typeface="Arial" panose="020B0604020202020204" pitchFamily="34" charset="0"/>
              </a:rPr>
              <a:t>Software</a:t>
            </a:r>
          </a:p>
          <a:p>
            <a:pPr marL="285750" indent="-285750" algn="l">
              <a:lnSpc>
                <a:spcPct val="130000"/>
              </a:lnSpc>
              <a:spcAft>
                <a:spcPts val="600"/>
              </a:spcAft>
              <a:buFont typeface="Arial" panose="020B0604020202020204" pitchFamily="34" charset="0"/>
              <a:buChar char="•"/>
            </a:pPr>
            <a:r>
              <a:rPr lang="en-US" sz="1600" b="1" dirty="0">
                <a:solidFill>
                  <a:srgbClr val="0B2A4A"/>
                </a:solidFill>
                <a:latin typeface="Arial" panose="020B0604020202020204" pitchFamily="34" charset="0"/>
                <a:cs typeface="Arial" panose="020B0604020202020204" pitchFamily="34" charset="0"/>
              </a:rPr>
              <a:t>Team ID – </a:t>
            </a:r>
            <a:r>
              <a:rPr lang="en-US" sz="1600" b="0" dirty="0">
                <a:solidFill>
                  <a:srgbClr val="1B2733"/>
                </a:solidFill>
                <a:latin typeface="Arial" panose="020B0604020202020204" pitchFamily="34" charset="0"/>
                <a:cs typeface="Arial" panose="020B0604020202020204" pitchFamily="34" charset="0"/>
              </a:rPr>
              <a:t>[enter Team ID from SIH portal]</a:t>
            </a:r>
          </a:p>
          <a:p>
            <a:pPr marL="285750" indent="-285750" algn="l">
              <a:lnSpc>
                <a:spcPct val="130000"/>
              </a:lnSpc>
              <a:spcAft>
                <a:spcPts val="600"/>
              </a:spcAft>
              <a:buFont typeface="Arial" panose="020B0604020202020204" pitchFamily="34" charset="0"/>
              <a:buChar char="•"/>
            </a:pPr>
            <a:r>
              <a:rPr lang="en-US" sz="1600" b="1" dirty="0">
                <a:solidFill>
                  <a:srgbClr val="0B2A4A"/>
                </a:solidFill>
                <a:latin typeface="Arial" panose="020B0604020202020204" pitchFamily="34" charset="0"/>
                <a:cs typeface="Arial" panose="020B0604020202020204" pitchFamily="34" charset="0"/>
              </a:rPr>
              <a:t>Team Name – </a:t>
            </a:r>
            <a:r>
              <a:rPr lang="en-US" sz="1600" b="0" dirty="0">
                <a:solidFill>
                  <a:srgbClr val="1B2733"/>
                </a:solidFill>
                <a:latin typeface="Arial" panose="020B0604020202020204" pitchFamily="34" charset="0"/>
                <a:cs typeface="Arial" panose="020B0604020202020204" pitchFamily="34" charset="0"/>
              </a:rPr>
              <a:t>[enter Team Name as registered]</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8" name="Project name"/>
          <p:cNvSpPr/>
          <p:nvPr/>
        </p:nvSpPr>
        <p:spPr>
          <a:xfrm>
            <a:off x="411480" y="1481328"/>
            <a:ext cx="5669280" cy="502920"/>
          </a:xfrm>
          <a:prstGeom prst="rect">
            <a:avLst/>
          </a:prstGeom>
          <a:noFill/>
          <a:ln>
            <a:noFill/>
          </a:ln>
          <a:effectLst/>
        </p:spPr>
        <p:txBody>
          <a:bodyPr rtlCol="0" anchor="ctr" wrap="square" lIns="0" rIns="0" tIns="27432" bIns="27432"/>
          <a:lstStyle/>
          <a:p>
            <a:pPr algn="l">
              <a:spcBef>
                <a:spcPts val="0"/>
              </a:spcBef>
              <a:spcAft>
                <a:spcPts val="0"/>
              </a:spcAft>
            </a:pPr>
            <a:r>
              <a:rPr sz="3000" b="1" i="0">
                <a:solidFill>
                  <a:srgbClr val="0070C0"/>
                </a:solidFill>
                <a:latin typeface="Arial"/>
              </a:rPr>
              <a:t>AirPower</a:t>
            </a:r>
          </a:p>
        </p:txBody>
      </p:sp>
      <p:sp>
        <p:nvSpPr>
          <p:cNvPr id="39" name="Tagline"/>
          <p:cNvSpPr/>
          <p:nvPr/>
        </p:nvSpPr>
        <p:spPr>
          <a:xfrm>
            <a:off x="411480" y="1938528"/>
            <a:ext cx="5669280" cy="320040"/>
          </a:xfrm>
          <a:prstGeom prst="rect">
            <a:avLst/>
          </a:prstGeom>
          <a:noFill/>
          <a:ln>
            <a:noFill/>
          </a:ln>
          <a:effectLst/>
        </p:spPr>
        <p:txBody>
          <a:bodyPr rtlCol="0" anchor="t" wrap="square" lIns="0" rIns="0" tIns="27432" bIns="27432"/>
          <a:lstStyle/>
          <a:p>
            <a:pPr algn="l">
              <a:spcBef>
                <a:spcPts val="0"/>
              </a:spcBef>
              <a:spcAft>
                <a:spcPts val="0"/>
              </a:spcAft>
            </a:pPr>
            <a:r>
              <a:rPr sz="1400" b="0" i="1">
                <a:solidFill>
                  <a:srgbClr val="5A6B7B"/>
                </a:solidFill>
                <a:latin typeface="Arial"/>
              </a:rPr>
              <a:t>Aircraft available by decision, not by failure</a:t>
            </a:r>
          </a:p>
        </p:txBody>
      </p:sp>
      <p:sp>
        <p:nvSpPr>
          <p:cNvPr id="40" name="Proof chip 1"/>
          <p:cNvSpPr/>
          <p:nvPr/>
        </p:nvSpPr>
        <p:spPr>
          <a:xfrm>
            <a:off x="411480" y="5669280"/>
            <a:ext cx="1783080" cy="658368"/>
          </a:xfrm>
          <a:prstGeom prst="roundRect">
            <a:avLst>
              <a:gd name="adj" fmla="val 15000"/>
            </a:avLst>
          </a:prstGeom>
          <a:solidFill>
            <a:srgbClr val="EAF3FB"/>
          </a:solidFill>
          <a:ln>
            <a:noFill/>
          </a:ln>
          <a:effectLst/>
        </p:spPr>
        <p:txBody>
          <a:bodyPr rtlCol="0" anchor="ctr" wrap="square" lIns="45720" rIns="45720" tIns="27432" bIns="27432"/>
          <a:lstStyle/>
          <a:p>
            <a:pPr algn="ctr">
              <a:spcBef>
                <a:spcPts val="0"/>
              </a:spcBef>
              <a:spcAft>
                <a:spcPts val="0"/>
              </a:spcAft>
            </a:pPr>
            <a:r>
              <a:rPr sz="1200" b="1" i="0">
                <a:solidFill>
                  <a:srgbClr val="0070C0"/>
                </a:solidFill>
                <a:latin typeface="Arial"/>
              </a:rPr>
              <a:t>Working prototype</a:t>
            </a:r>
          </a:p>
          <a:p>
            <a:pPr algn="ctr">
              <a:spcBef>
                <a:spcPts val="0"/>
              </a:spcBef>
              <a:spcAft>
                <a:spcPts val="0"/>
              </a:spcAft>
            </a:pPr>
            <a:r>
              <a:rPr sz="1000" b="0" i="0">
                <a:solidFill>
                  <a:srgbClr val="5A6B7B"/>
                </a:solidFill>
                <a:latin typeface="Arial"/>
              </a:rPr>
              <a:t>8 pages · 20 airframes</a:t>
            </a:r>
          </a:p>
        </p:txBody>
      </p:sp>
      <p:sp>
        <p:nvSpPr>
          <p:cNvPr id="41" name="Proof chip 2"/>
          <p:cNvSpPr/>
          <p:nvPr/>
        </p:nvSpPr>
        <p:spPr>
          <a:xfrm>
            <a:off x="2267712" y="5669280"/>
            <a:ext cx="1783080" cy="658368"/>
          </a:xfrm>
          <a:prstGeom prst="roundRect">
            <a:avLst>
              <a:gd name="adj" fmla="val 15000"/>
            </a:avLst>
          </a:prstGeom>
          <a:solidFill>
            <a:srgbClr val="EAF3FB"/>
          </a:solidFill>
          <a:ln>
            <a:noFill/>
          </a:ln>
          <a:effectLst/>
        </p:spPr>
        <p:txBody>
          <a:bodyPr rtlCol="0" anchor="ctr" wrap="square" lIns="45720" rIns="45720" tIns="27432" bIns="27432"/>
          <a:lstStyle/>
          <a:p>
            <a:pPr algn="ctr">
              <a:spcBef>
                <a:spcPts val="0"/>
              </a:spcBef>
              <a:spcAft>
                <a:spcPts val="0"/>
              </a:spcAft>
            </a:pPr>
            <a:r>
              <a:rPr sz="1200" b="1" i="0">
                <a:solidFill>
                  <a:srgbClr val="0070C0"/>
                </a:solidFill>
                <a:latin typeface="Arial"/>
              </a:rPr>
              <a:t>340 IoT channels</a:t>
            </a:r>
          </a:p>
          <a:p>
            <a:pPr algn="ctr">
              <a:spcBef>
                <a:spcPts val="0"/>
              </a:spcBef>
              <a:spcAft>
                <a:spcPts val="0"/>
              </a:spcAft>
            </a:pPr>
            <a:r>
              <a:rPr sz="1000" b="0" i="0">
                <a:solidFill>
                  <a:srgbClr val="5A6B7B"/>
                </a:solidFill>
                <a:latin typeface="Arial"/>
              </a:rPr>
              <a:t>scored live, 2 s ticks</a:t>
            </a:r>
          </a:p>
        </p:txBody>
      </p:sp>
      <p:sp>
        <p:nvSpPr>
          <p:cNvPr id="42" name="Proof chip 3"/>
          <p:cNvSpPr/>
          <p:nvPr/>
        </p:nvSpPr>
        <p:spPr>
          <a:xfrm>
            <a:off x="4123944" y="5669280"/>
            <a:ext cx="1783080" cy="658368"/>
          </a:xfrm>
          <a:prstGeom prst="roundRect">
            <a:avLst>
              <a:gd name="adj" fmla="val 15000"/>
            </a:avLst>
          </a:prstGeom>
          <a:solidFill>
            <a:srgbClr val="EAF3FB"/>
          </a:solidFill>
          <a:ln>
            <a:noFill/>
          </a:ln>
          <a:effectLst/>
        </p:spPr>
        <p:txBody>
          <a:bodyPr rtlCol="0" anchor="ctr" wrap="square" lIns="45720" rIns="45720" tIns="27432" bIns="27432"/>
          <a:lstStyle/>
          <a:p>
            <a:pPr algn="ctr">
              <a:spcBef>
                <a:spcPts val="0"/>
              </a:spcBef>
              <a:spcAft>
                <a:spcPts val="0"/>
              </a:spcAft>
            </a:pPr>
            <a:r>
              <a:rPr sz="1200" b="1" i="0">
                <a:solidFill>
                  <a:srgbClr val="0070C0"/>
                </a:solidFill>
                <a:latin typeface="Arial"/>
              </a:rPr>
              <a:t>5.3 days</a:t>
            </a:r>
          </a:p>
          <a:p>
            <a:pPr algn="ctr">
              <a:spcBef>
                <a:spcPts val="0"/>
              </a:spcBef>
              <a:spcAft>
                <a:spcPts val="0"/>
              </a:spcAft>
            </a:pPr>
            <a:r>
              <a:rPr sz="1000" b="0" i="0">
                <a:solidFill>
                  <a:srgbClr val="5A6B7B"/>
                </a:solidFill>
                <a:latin typeface="Arial"/>
              </a:rPr>
              <a:t>mean early warning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
            </a:r>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IDEA TITLE</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2" name="Rectangle 15361"/>
          <p:cNvSpPr/>
          <p:nvPr/>
        </p:nvSpPr>
        <p:spPr>
          <a:xfrm>
            <a:off x="365760" y="1234440"/>
            <a:ext cx="137160" cy="137160"/>
          </a:xfrm>
          <a:prstGeom prst="rect">
            <a:avLst/>
          </a:prstGeom>
          <a:solidFill>
            <a:srgbClr val="0070C0"/>
          </a:solidFill>
          <a:ln>
            <a:noFill/>
          </a:ln>
          <a:effectLst/>
        </p:spPr>
        <p:txBody>
          <a:bodyPr rtlCol="0" anchor="t" wrap="square" lIns="54864" rIns="54864" tIns="27432" bIns="27432"/>
          <a:lstStyle/>
          <a:p>
            <a:pPr algn="l">
              <a:spcBef>
                <a:spcPts val="0"/>
              </a:spcBef>
              <a:spcAft>
                <a:spcPts val="0"/>
              </a:spcAft>
            </a:pPr>
            <a:r>
              <a:rPr sz="1200" b="0" i="0">
                <a:solidFill>
                  <a:srgbClr val="1B2733"/>
                </a:solidFill>
                <a:latin typeface="Arial"/>
              </a:rPr>
              <a:t/>
            </a:r>
          </a:p>
        </p:txBody>
      </p:sp>
      <p:sp>
        <p:nvSpPr>
          <p:cNvPr id="15363" name="Rectangle 15362"/>
          <p:cNvSpPr/>
          <p:nvPr/>
        </p:nvSpPr>
        <p:spPr>
          <a:xfrm>
            <a:off x="566928" y="1170432"/>
            <a:ext cx="6565392" cy="274320"/>
          </a:xfrm>
          <a:prstGeom prst="rect">
            <a:avLst/>
          </a:prstGeom>
          <a:noFill/>
          <a:ln>
            <a:noFill/>
          </a:ln>
          <a:effectLst/>
        </p:spPr>
        <p:txBody>
          <a:bodyPr rtlCol="0" anchor="ctr" wrap="square" lIns="0" rIns="0" tIns="27432" bIns="27432"/>
          <a:lstStyle/>
          <a:p>
            <a:pPr algn="l">
              <a:spcBef>
                <a:spcPts val="0"/>
              </a:spcBef>
              <a:spcAft>
                <a:spcPts val="0"/>
              </a:spcAft>
            </a:pPr>
            <a:r>
              <a:rPr sz="1400" b="1" i="0">
                <a:solidFill>
                  <a:srgbClr val="0B2A4A"/>
                </a:solidFill>
                <a:latin typeface="Arial"/>
              </a:rPr>
              <a:t>Proposed Solution (Describe your Idea/Solution/Prototype)</a:t>
            </a:r>
          </a:p>
        </p:txBody>
      </p:sp>
      <p:sp>
        <p:nvSpPr>
          <p:cNvPr id="15364" name="Rectangle 15363"/>
          <p:cNvSpPr/>
          <p:nvPr/>
        </p:nvSpPr>
        <p:spPr>
          <a:xfrm>
            <a:off x="365760" y="1481328"/>
            <a:ext cx="6858000" cy="914400"/>
          </a:xfrm>
          <a:prstGeom prst="rect">
            <a:avLst/>
          </a:prstGeom>
          <a:noFill/>
          <a:ln>
            <a:noFill/>
          </a:ln>
          <a:effectLst/>
        </p:spPr>
        <p:txBody>
          <a:bodyPr rtlCol="0" anchor="t" wrap="square" lIns="0" rIns="0" tIns="27432" bIns="27432"/>
          <a:lstStyle/>
          <a:p>
            <a:pPr algn="l" marL="146304" indent="-146304">
              <a:spcBef>
                <a:spcPts val="0"/>
              </a:spcBef>
              <a:spcAft>
                <a:spcPts val="300"/>
              </a:spcAft>
              <a:buClr>
                <a:srgbClr val="0070C0"/>
              </a:buClr>
              <a:buFont typeface="Arial"/>
              <a:buChar char="•"/>
            </a:pPr>
            <a:r>
              <a:rPr sz="1200" b="1" i="0">
                <a:solidFill>
                  <a:srgbClr val="0070C0"/>
                </a:solidFill>
                <a:latin typeface="Arial"/>
              </a:rPr>
              <a:t>AirPower</a:t>
            </a:r>
            <a:r>
              <a:rPr sz="1200" b="0" i="0">
                <a:solidFill>
                  <a:srgbClr val="1B2733"/>
                </a:solidFill>
                <a:latin typeface="Arial"/>
              </a:rPr>
              <a:t> – one integrated maintenance-analytics platform: IoT health data + tech records + spares + depot status = </a:t>
            </a:r>
            <a:r>
              <a:rPr sz="1200" b="1" i="0">
                <a:solidFill>
                  <a:srgbClr val="1B2733"/>
                </a:solidFill>
                <a:latin typeface="Arial"/>
              </a:rPr>
              <a:t>one aircraft record</a:t>
            </a:r>
          </a:p>
          <a:p>
            <a:pPr algn="l" marL="146304" indent="-146304">
              <a:spcBef>
                <a:spcPts val="0"/>
              </a:spcBef>
              <a:spcAft>
                <a:spcPts val="300"/>
              </a:spcAft>
              <a:buClr>
                <a:srgbClr val="0070C0"/>
              </a:buClr>
              <a:buFont typeface="Arial"/>
              <a:buChar char="•"/>
            </a:pPr>
            <a:r>
              <a:rPr sz="1200" b="0" i="0">
                <a:solidFill>
                  <a:srgbClr val="1B2733"/>
                </a:solidFill>
                <a:latin typeface="Arial"/>
              </a:rPr>
              <a:t>Online detector scores every sensor channel, </a:t>
            </a:r>
            <a:r>
              <a:rPr sz="1200" b="1" i="0">
                <a:solidFill>
                  <a:srgbClr val="1B2733"/>
                </a:solidFill>
                <a:latin typeface="Arial"/>
              </a:rPr>
              <a:t>predicting faults days ahead</a:t>
            </a:r>
          </a:p>
          <a:p>
            <a:pPr algn="l" marL="146304" indent="-146304">
              <a:spcBef>
                <a:spcPts val="0"/>
              </a:spcBef>
              <a:spcAft>
                <a:spcPts val="0"/>
              </a:spcAft>
              <a:buClr>
                <a:srgbClr val="0070C0"/>
              </a:buClr>
              <a:buFont typeface="Arial"/>
              <a:buChar char="•"/>
            </a:pPr>
            <a:r>
              <a:rPr sz="1200" b="1" i="0">
                <a:solidFill>
                  <a:srgbClr val="1B2733"/>
                </a:solidFill>
                <a:latin typeface="Arial"/>
              </a:rPr>
              <a:t>Closes the loop:</a:t>
            </a:r>
            <a:r>
              <a:rPr sz="1200" b="0" i="0">
                <a:solidFill>
                  <a:srgbClr val="1B2733"/>
                </a:solidFill>
                <a:latin typeface="Arial"/>
              </a:rPr>
              <a:t> alert → work order → spare indent → audit log</a:t>
            </a:r>
          </a:p>
        </p:txBody>
      </p:sp>
      <p:sp>
        <p:nvSpPr>
          <p:cNvPr id="15365" name="Stat 1"/>
          <p:cNvSpPr/>
          <p:nvPr/>
        </p:nvSpPr>
        <p:spPr>
          <a:xfrm>
            <a:off x="7452360" y="1261872"/>
            <a:ext cx="2139696" cy="548640"/>
          </a:xfrm>
          <a:prstGeom prst="roundRect">
            <a:avLst>
              <a:gd name="adj" fmla="val 18000"/>
            </a:avLst>
          </a:prstGeom>
          <a:solidFill>
            <a:srgbClr val="EAF3FB"/>
          </a:solidFill>
          <a:ln>
            <a:noFill/>
          </a:ln>
          <a:effectLst/>
        </p:spPr>
        <p:txBody>
          <a:bodyPr rtlCol="0" anchor="ctr" wrap="square" tIns="27432" bIns="27432"/>
          <a:lstStyle/>
          <a:p>
            <a:pPr algn="l">
              <a:spcBef>
                <a:spcPts val="0"/>
              </a:spcBef>
              <a:spcAft>
                <a:spcPts val="0"/>
              </a:spcAft>
            </a:pPr>
            <a:r>
              <a:rPr sz="1700" b="1" i="0">
                <a:solidFill>
                  <a:srgbClr val="0070C0"/>
                </a:solidFill>
                <a:latin typeface="Arial"/>
              </a:rPr>
              <a:t>340  </a:t>
            </a:r>
            <a:r>
              <a:rPr sz="1000" b="0" i="0">
                <a:solidFill>
                  <a:srgbClr val="5A6B7B"/>
                </a:solidFill>
                <a:latin typeface="Arial"/>
              </a:rPr>
              <a:t>sensor channels live</a:t>
            </a:r>
          </a:p>
        </p:txBody>
      </p:sp>
      <p:sp>
        <p:nvSpPr>
          <p:cNvPr id="15366" name="Stat 2"/>
          <p:cNvSpPr/>
          <p:nvPr/>
        </p:nvSpPr>
        <p:spPr>
          <a:xfrm>
            <a:off x="9665208" y="1261872"/>
            <a:ext cx="2139696" cy="548640"/>
          </a:xfrm>
          <a:prstGeom prst="roundRect">
            <a:avLst>
              <a:gd name="adj" fmla="val 18000"/>
            </a:avLst>
          </a:prstGeom>
          <a:solidFill>
            <a:srgbClr val="EAF3FB"/>
          </a:solidFill>
          <a:ln>
            <a:noFill/>
          </a:ln>
          <a:effectLst/>
        </p:spPr>
        <p:txBody>
          <a:bodyPr rtlCol="0" anchor="ctr" wrap="square" tIns="27432" bIns="27432"/>
          <a:lstStyle/>
          <a:p>
            <a:pPr algn="l">
              <a:spcBef>
                <a:spcPts val="0"/>
              </a:spcBef>
              <a:spcAft>
                <a:spcPts val="0"/>
              </a:spcAft>
            </a:pPr>
            <a:r>
              <a:rPr sz="1700" b="1" i="0">
                <a:solidFill>
                  <a:srgbClr val="0070C0"/>
                </a:solidFill>
                <a:latin typeface="Arial"/>
              </a:rPr>
              <a:t>5.3 days  </a:t>
            </a:r>
            <a:r>
              <a:rPr sz="1000" b="0" i="0">
                <a:solidFill>
                  <a:srgbClr val="5A6B7B"/>
                </a:solidFill>
                <a:latin typeface="Arial"/>
              </a:rPr>
              <a:t>early warning</a:t>
            </a:r>
          </a:p>
        </p:txBody>
      </p:sp>
      <p:sp>
        <p:nvSpPr>
          <p:cNvPr id="15367" name="Stat 3"/>
          <p:cNvSpPr/>
          <p:nvPr/>
        </p:nvSpPr>
        <p:spPr>
          <a:xfrm>
            <a:off x="7452360" y="1865376"/>
            <a:ext cx="2139696" cy="548640"/>
          </a:xfrm>
          <a:prstGeom prst="roundRect">
            <a:avLst>
              <a:gd name="adj" fmla="val 18000"/>
            </a:avLst>
          </a:prstGeom>
          <a:solidFill>
            <a:srgbClr val="EAF3FB"/>
          </a:solidFill>
          <a:ln>
            <a:noFill/>
          </a:ln>
          <a:effectLst/>
        </p:spPr>
        <p:txBody>
          <a:bodyPr rtlCol="0" anchor="ctr" wrap="square" tIns="27432" bIns="27432"/>
          <a:lstStyle/>
          <a:p>
            <a:pPr algn="l">
              <a:spcBef>
                <a:spcPts val="0"/>
              </a:spcBef>
              <a:spcAft>
                <a:spcPts val="0"/>
              </a:spcAft>
            </a:pPr>
            <a:r>
              <a:rPr sz="1700" b="1" i="0">
                <a:solidFill>
                  <a:srgbClr val="0070C0"/>
                </a:solidFill>
                <a:latin typeface="Arial"/>
              </a:rPr>
              <a:t>29  </a:t>
            </a:r>
            <a:r>
              <a:rPr sz="1000" b="0" i="0">
                <a:solidFill>
                  <a:srgbClr val="5A6B7B"/>
                </a:solidFill>
                <a:latin typeface="Arial"/>
              </a:rPr>
              <a:t>live AI predictions</a:t>
            </a:r>
          </a:p>
        </p:txBody>
      </p:sp>
      <p:sp>
        <p:nvSpPr>
          <p:cNvPr id="15368" name="Stat 4"/>
          <p:cNvSpPr/>
          <p:nvPr/>
        </p:nvSpPr>
        <p:spPr>
          <a:xfrm>
            <a:off x="9665208" y="1865376"/>
            <a:ext cx="2139696" cy="548640"/>
          </a:xfrm>
          <a:prstGeom prst="roundRect">
            <a:avLst>
              <a:gd name="adj" fmla="val 18000"/>
            </a:avLst>
          </a:prstGeom>
          <a:solidFill>
            <a:srgbClr val="EAF3FB"/>
          </a:solidFill>
          <a:ln>
            <a:noFill/>
          </a:ln>
          <a:effectLst/>
        </p:spPr>
        <p:txBody>
          <a:bodyPr rtlCol="0" anchor="ctr" wrap="square" tIns="27432" bIns="27432"/>
          <a:lstStyle/>
          <a:p>
            <a:pPr algn="l">
              <a:spcBef>
                <a:spcPts val="0"/>
              </a:spcBef>
              <a:spcAft>
                <a:spcPts val="0"/>
              </a:spcAft>
            </a:pPr>
            <a:r>
              <a:rPr sz="1700" b="1" i="0">
                <a:solidFill>
                  <a:srgbClr val="0070C0"/>
                </a:solidFill>
                <a:latin typeface="Arial"/>
              </a:rPr>
              <a:t>5  </a:t>
            </a:r>
            <a:r>
              <a:rPr sz="1000" b="0" i="0">
                <a:solidFill>
                  <a:srgbClr val="5A6B7B"/>
                </a:solidFill>
                <a:latin typeface="Arial"/>
              </a:rPr>
              <a:t>data sources unified</a:t>
            </a:r>
          </a:p>
        </p:txBody>
      </p:sp>
      <p:sp>
        <p:nvSpPr>
          <p:cNvPr id="15369" name="Rectangle 15368"/>
          <p:cNvSpPr/>
          <p:nvPr/>
        </p:nvSpPr>
        <p:spPr>
          <a:xfrm>
            <a:off x="365760" y="2496312"/>
            <a:ext cx="137160" cy="137160"/>
          </a:xfrm>
          <a:prstGeom prst="rect">
            <a:avLst/>
          </a:prstGeom>
          <a:solidFill>
            <a:srgbClr val="0070C0"/>
          </a:solidFill>
          <a:ln>
            <a:noFill/>
          </a:ln>
          <a:effectLst/>
        </p:spPr>
        <p:txBody>
          <a:bodyPr rtlCol="0" anchor="t" wrap="square" lIns="54864" rIns="54864" tIns="27432" bIns="27432"/>
          <a:lstStyle/>
          <a:p>
            <a:pPr algn="l">
              <a:spcBef>
                <a:spcPts val="0"/>
              </a:spcBef>
              <a:spcAft>
                <a:spcPts val="0"/>
              </a:spcAft>
            </a:pPr>
            <a:r>
              <a:rPr sz="1200" b="0" i="0">
                <a:solidFill>
                  <a:srgbClr val="1B2733"/>
                </a:solidFill>
                <a:latin typeface="Arial"/>
              </a:rPr>
              <a:t/>
            </a:r>
          </a:p>
        </p:txBody>
      </p:sp>
      <p:sp>
        <p:nvSpPr>
          <p:cNvPr id="15370" name="Rectangle 15369"/>
          <p:cNvSpPr/>
          <p:nvPr/>
        </p:nvSpPr>
        <p:spPr>
          <a:xfrm>
            <a:off x="566928" y="2432304"/>
            <a:ext cx="11228832" cy="274320"/>
          </a:xfrm>
          <a:prstGeom prst="rect">
            <a:avLst/>
          </a:prstGeom>
          <a:noFill/>
          <a:ln>
            <a:noFill/>
          </a:ln>
          <a:effectLst/>
        </p:spPr>
        <p:txBody>
          <a:bodyPr rtlCol="0" anchor="ctr" wrap="square" lIns="0" rIns="0" tIns="27432" bIns="27432"/>
          <a:lstStyle/>
          <a:p>
            <a:pPr algn="l">
              <a:spcBef>
                <a:spcPts val="0"/>
              </a:spcBef>
              <a:spcAft>
                <a:spcPts val="0"/>
              </a:spcAft>
            </a:pPr>
            <a:r>
              <a:rPr sz="1400" b="1" i="0">
                <a:solidFill>
                  <a:srgbClr val="0B2A4A"/>
                </a:solidFill>
                <a:latin typeface="Arial"/>
              </a:rPr>
              <a:t>Detailed explanation of the proposed solution</a:t>
            </a:r>
            <a:r>
              <a:rPr sz="1100" b="0" i="0">
                <a:solidFill>
                  <a:srgbClr val="5A6B7B"/>
                </a:solidFill>
                <a:latin typeface="Arial"/>
              </a:rPr>
              <a:t>   four silos  →  one record  →  decisions that reach the people who act</a:t>
            </a:r>
          </a:p>
        </p:txBody>
      </p:sp>
      <p:sp>
        <p:nvSpPr>
          <p:cNvPr id="15371" name="Source 1"/>
          <p:cNvSpPr/>
          <p:nvPr/>
        </p:nvSpPr>
        <p:spPr>
          <a:xfrm>
            <a:off x="365760" y="2761488"/>
            <a:ext cx="1755648" cy="475488"/>
          </a:xfrm>
          <a:prstGeom prst="roundRect">
            <a:avLst>
              <a:gd name="adj" fmla="val 20000"/>
            </a:avLst>
          </a:prstGeom>
          <a:solidFill>
            <a:srgbClr val="FFFFFF"/>
          </a:solidFill>
          <a:ln w="9525">
            <a:solidFill>
              <a:srgbClr val="BFD9F0"/>
            </a:solidFill>
          </a:ln>
          <a:effectLst/>
        </p:spPr>
        <p:txBody>
          <a:bodyPr rtlCol="0" anchor="ctr" wrap="square" lIns="45720" rIns="45720" tIns="27432" bIns="27432"/>
          <a:lstStyle/>
          <a:p>
            <a:pPr algn="ctr">
              <a:spcBef>
                <a:spcPts val="0"/>
              </a:spcBef>
              <a:spcAft>
                <a:spcPts val="0"/>
              </a:spcAft>
            </a:pPr>
            <a:r>
              <a:rPr sz="1050" b="1" i="0">
                <a:solidFill>
                  <a:srgbClr val="1B2733"/>
                </a:solidFill>
                <a:latin typeface="Arial"/>
              </a:rPr>
              <a:t>Aircraft health monitoring (IoT)</a:t>
            </a:r>
          </a:p>
        </p:txBody>
      </p:sp>
      <p:sp>
        <p:nvSpPr>
          <p:cNvPr id="15372" name="Source 2"/>
          <p:cNvSpPr/>
          <p:nvPr/>
        </p:nvSpPr>
        <p:spPr>
          <a:xfrm>
            <a:off x="2194560" y="2761488"/>
            <a:ext cx="1755648" cy="475488"/>
          </a:xfrm>
          <a:prstGeom prst="roundRect">
            <a:avLst>
              <a:gd name="adj" fmla="val 20000"/>
            </a:avLst>
          </a:prstGeom>
          <a:solidFill>
            <a:srgbClr val="FFFFFF"/>
          </a:solidFill>
          <a:ln w="9525">
            <a:solidFill>
              <a:srgbClr val="BFD9F0"/>
            </a:solidFill>
          </a:ln>
          <a:effectLst/>
        </p:spPr>
        <p:txBody>
          <a:bodyPr rtlCol="0" anchor="ctr" wrap="square" lIns="45720" rIns="45720" tIns="27432" bIns="27432"/>
          <a:lstStyle/>
          <a:p>
            <a:pPr algn="ctr">
              <a:spcBef>
                <a:spcPts val="0"/>
              </a:spcBef>
              <a:spcAft>
                <a:spcPts val="0"/>
              </a:spcAft>
            </a:pPr>
            <a:r>
              <a:rPr sz="1050" b="1" i="0">
                <a:solidFill>
                  <a:srgbClr val="1B2733"/>
                </a:solidFill>
                <a:latin typeface="Arial"/>
              </a:rPr>
              <a:t>Technical records / logbook</a:t>
            </a:r>
          </a:p>
        </p:txBody>
      </p:sp>
      <p:sp>
        <p:nvSpPr>
          <p:cNvPr id="15373" name="Source 3"/>
          <p:cNvSpPr/>
          <p:nvPr/>
        </p:nvSpPr>
        <p:spPr>
          <a:xfrm>
            <a:off x="365760" y="3291840"/>
            <a:ext cx="1755648" cy="475488"/>
          </a:xfrm>
          <a:prstGeom prst="roundRect">
            <a:avLst>
              <a:gd name="adj" fmla="val 20000"/>
            </a:avLst>
          </a:prstGeom>
          <a:solidFill>
            <a:srgbClr val="FFFFFF"/>
          </a:solidFill>
          <a:ln w="9525">
            <a:solidFill>
              <a:srgbClr val="BFD9F0"/>
            </a:solidFill>
          </a:ln>
          <a:effectLst/>
        </p:spPr>
        <p:txBody>
          <a:bodyPr rtlCol="0" anchor="ctr" wrap="square" lIns="45720" rIns="45720" tIns="27432" bIns="27432"/>
          <a:lstStyle/>
          <a:p>
            <a:pPr algn="ctr">
              <a:spcBef>
                <a:spcPts val="0"/>
              </a:spcBef>
              <a:spcAft>
                <a:spcPts val="0"/>
              </a:spcAft>
            </a:pPr>
            <a:r>
              <a:rPr sz="1050" b="1" i="0">
                <a:solidFill>
                  <a:srgbClr val="1B2733"/>
                </a:solidFill>
                <a:latin typeface="Arial"/>
              </a:rPr>
              <a:t>Spares &amp; stores ERP</a:t>
            </a:r>
          </a:p>
        </p:txBody>
      </p:sp>
      <p:sp>
        <p:nvSpPr>
          <p:cNvPr id="15374" name="Source 4"/>
          <p:cNvSpPr/>
          <p:nvPr/>
        </p:nvSpPr>
        <p:spPr>
          <a:xfrm>
            <a:off x="2194560" y="3291840"/>
            <a:ext cx="1755648" cy="475488"/>
          </a:xfrm>
          <a:prstGeom prst="roundRect">
            <a:avLst>
              <a:gd name="adj" fmla="val 20000"/>
            </a:avLst>
          </a:prstGeom>
          <a:solidFill>
            <a:srgbClr val="FFFFFF"/>
          </a:solidFill>
          <a:ln w="9525">
            <a:solidFill>
              <a:srgbClr val="BFD9F0"/>
            </a:solidFill>
          </a:ln>
          <a:effectLst/>
        </p:spPr>
        <p:txBody>
          <a:bodyPr rtlCol="0" anchor="ctr" wrap="square" lIns="45720" rIns="45720" tIns="27432" bIns="27432"/>
          <a:lstStyle/>
          <a:p>
            <a:pPr algn="ctr">
              <a:spcBef>
                <a:spcPts val="0"/>
              </a:spcBef>
              <a:spcAft>
                <a:spcPts val="0"/>
              </a:spcAft>
            </a:pPr>
            <a:r>
              <a:rPr sz="1050" b="1" i="0">
                <a:solidFill>
                  <a:srgbClr val="1B2733"/>
                </a:solidFill>
                <a:latin typeface="Arial"/>
              </a:rPr>
              <a:t>Maintenance agencies / depot</a:t>
            </a:r>
          </a:p>
        </p:txBody>
      </p:sp>
      <p:sp>
        <p:nvSpPr>
          <p:cNvPr id="15375" name="Right Arrow 15374"/>
          <p:cNvSpPr/>
          <p:nvPr/>
        </p:nvSpPr>
        <p:spPr>
          <a:xfrm>
            <a:off x="4114800" y="3108960"/>
            <a:ext cx="457200" cy="256032"/>
          </a:xfrm>
          <a:prstGeom prst="rightArrow">
            <a:avLst/>
          </a:prstGeom>
          <a:solidFill>
            <a:srgbClr val="0070C0"/>
          </a:solidFill>
          <a:ln>
            <a:noFill/>
          </a:ln>
          <a:effectLst/>
        </p:spPr>
        <p:txBody>
          <a:bodyPr rtlCol="0" anchor="ctr"/>
          <a:lstStyle/>
          <a:p>
            <a:pPr algn="ctr"/>
          </a:p>
        </p:txBody>
      </p:sp>
      <p:sp>
        <p:nvSpPr>
          <p:cNvPr id="15376" name="Hub"/>
          <p:cNvSpPr/>
          <p:nvPr/>
        </p:nvSpPr>
        <p:spPr>
          <a:xfrm>
            <a:off x="4663440" y="2743200"/>
            <a:ext cx="3017520" cy="1005840"/>
          </a:xfrm>
          <a:prstGeom prst="roundRect">
            <a:avLst>
              <a:gd name="adj" fmla="val 10000"/>
            </a:avLst>
          </a:prstGeom>
          <a:solidFill>
            <a:srgbClr val="0B2A4A"/>
          </a:solidFill>
          <a:ln>
            <a:noFill/>
          </a:ln>
          <a:effectLst/>
        </p:spPr>
        <p:txBody>
          <a:bodyPr rtlCol="0" anchor="ctr" wrap="square" lIns="109728" rIns="109728" tIns="27432" bIns="27432"/>
          <a:lstStyle/>
          <a:p>
            <a:pPr algn="ctr">
              <a:spcBef>
                <a:spcPts val="0"/>
              </a:spcBef>
              <a:spcAft>
                <a:spcPts val="300"/>
              </a:spcAft>
            </a:pPr>
            <a:r>
              <a:rPr sz="1300" b="1" i="0">
                <a:solidFill>
                  <a:srgbClr val="FFFFFF"/>
                </a:solidFill>
                <a:latin typeface="Arial"/>
              </a:rPr>
              <a:t>AirPower unified aircraft record</a:t>
            </a:r>
          </a:p>
          <a:p>
            <a:pPr algn="ctr">
              <a:spcBef>
                <a:spcPts val="0"/>
              </a:spcBef>
              <a:spcAft>
                <a:spcPts val="0"/>
              </a:spcAft>
            </a:pPr>
            <a:r>
              <a:rPr sz="1050" b="0" i="0">
                <a:solidFill>
                  <a:srgbClr val="D8E8F7"/>
                </a:solidFill>
                <a:latin typeface="Arial"/>
              </a:rPr>
              <a:t>Normalise (312 mappings) · quality guards · online detector EWMA → z-score → CUSUM · RUL prediction</a:t>
            </a:r>
          </a:p>
        </p:txBody>
      </p:sp>
      <p:sp>
        <p:nvSpPr>
          <p:cNvPr id="15377" name="Right Arrow 15376"/>
          <p:cNvSpPr/>
          <p:nvPr/>
        </p:nvSpPr>
        <p:spPr>
          <a:xfrm>
            <a:off x="7772400" y="3108960"/>
            <a:ext cx="457200" cy="256032"/>
          </a:xfrm>
          <a:prstGeom prst="rightArrow">
            <a:avLst/>
          </a:prstGeom>
          <a:solidFill>
            <a:srgbClr val="0070C0"/>
          </a:solidFill>
          <a:ln>
            <a:noFill/>
          </a:ln>
          <a:effectLst/>
        </p:spPr>
        <p:txBody>
          <a:bodyPr rtlCol="0" anchor="ctr"/>
          <a:lstStyle/>
          <a:p>
            <a:pPr algn="ctr"/>
          </a:p>
        </p:txBody>
      </p:sp>
      <p:sp>
        <p:nvSpPr>
          <p:cNvPr id="15378" name="Output 1"/>
          <p:cNvSpPr/>
          <p:nvPr/>
        </p:nvSpPr>
        <p:spPr>
          <a:xfrm>
            <a:off x="8321040" y="2743200"/>
            <a:ext cx="3502152" cy="310896"/>
          </a:xfrm>
          <a:prstGeom prst="roundRect">
            <a:avLst>
              <a:gd name="adj" fmla="val 30000"/>
            </a:avLst>
          </a:prstGeom>
          <a:solidFill>
            <a:srgbClr val="E4F4EC"/>
          </a:solidFill>
          <a:ln w="9525">
            <a:solidFill>
              <a:srgbClr val="1E8E5A"/>
            </a:solidFill>
          </a:ln>
          <a:effectLst/>
        </p:spPr>
        <p:txBody>
          <a:bodyPr rtlCol="0" anchor="ctr" wrap="square" lIns="109728" rIns="109728" tIns="27432" bIns="27432"/>
          <a:lstStyle/>
          <a:p>
            <a:pPr algn="l">
              <a:spcBef>
                <a:spcPts val="0"/>
              </a:spcBef>
              <a:spcAft>
                <a:spcPts val="0"/>
              </a:spcAft>
            </a:pPr>
            <a:r>
              <a:rPr sz="1050" b="1" i="0">
                <a:solidFill>
                  <a:srgbClr val="1B2733"/>
                </a:solidFill>
                <a:latin typeface="Arial"/>
              </a:rPr>
              <a:t>Predict faults days ahead (RUL + drivers)</a:t>
            </a:r>
          </a:p>
        </p:txBody>
      </p:sp>
      <p:sp>
        <p:nvSpPr>
          <p:cNvPr id="15379" name="Output 2"/>
          <p:cNvSpPr/>
          <p:nvPr/>
        </p:nvSpPr>
        <p:spPr>
          <a:xfrm>
            <a:off x="8321040" y="3090672"/>
            <a:ext cx="3502152" cy="310896"/>
          </a:xfrm>
          <a:prstGeom prst="roundRect">
            <a:avLst>
              <a:gd name="adj" fmla="val 30000"/>
            </a:avLst>
          </a:prstGeom>
          <a:solidFill>
            <a:srgbClr val="E4F4EC"/>
          </a:solidFill>
          <a:ln w="9525">
            <a:solidFill>
              <a:srgbClr val="1E8E5A"/>
            </a:solidFill>
          </a:ln>
          <a:effectLst/>
        </p:spPr>
        <p:txBody>
          <a:bodyPr rtlCol="0" anchor="ctr" wrap="square" lIns="109728" rIns="109728" tIns="27432" bIns="27432"/>
          <a:lstStyle/>
          <a:p>
            <a:pPr algn="l">
              <a:spcBef>
                <a:spcPts val="0"/>
              </a:spcBef>
              <a:spcAft>
                <a:spcPts val="0"/>
              </a:spcAft>
            </a:pPr>
            <a:r>
              <a:rPr sz="1050" b="1" i="0">
                <a:solidFill>
                  <a:srgbClr val="1B2733"/>
                </a:solidFill>
                <a:latin typeface="Arial"/>
              </a:rPr>
              <a:t>Auto-raise work order, right agency &amp; window</a:t>
            </a:r>
          </a:p>
        </p:txBody>
      </p:sp>
      <p:sp>
        <p:nvSpPr>
          <p:cNvPr id="15380" name="Output 3"/>
          <p:cNvSpPr/>
          <p:nvPr/>
        </p:nvSpPr>
        <p:spPr>
          <a:xfrm>
            <a:off x="8321040" y="3438144"/>
            <a:ext cx="3502152" cy="310896"/>
          </a:xfrm>
          <a:prstGeom prst="roundRect">
            <a:avLst>
              <a:gd name="adj" fmla="val 30000"/>
            </a:avLst>
          </a:prstGeom>
          <a:solidFill>
            <a:srgbClr val="E4F4EC"/>
          </a:solidFill>
          <a:ln w="9525">
            <a:solidFill>
              <a:srgbClr val="1E8E5A"/>
            </a:solidFill>
          </a:ln>
          <a:effectLst/>
        </p:spPr>
        <p:txBody>
          <a:bodyPr rtlCol="0" anchor="ctr" wrap="square" lIns="109728" rIns="109728" tIns="27432" bIns="27432"/>
          <a:lstStyle/>
          <a:p>
            <a:pPr algn="l">
              <a:spcBef>
                <a:spcPts val="0"/>
              </a:spcBef>
              <a:spcAft>
                <a:spcPts val="0"/>
              </a:spcAft>
            </a:pPr>
            <a:r>
              <a:rPr sz="1050" b="1" i="0">
                <a:solidFill>
                  <a:srgbClr val="1B2733"/>
                </a:solidFill>
                <a:latin typeface="Arial"/>
              </a:rPr>
              <a:t>Auto-indent spare before AOG + audit trail</a:t>
            </a:r>
          </a:p>
        </p:txBody>
      </p:sp>
      <p:sp>
        <p:nvSpPr>
          <p:cNvPr id="15381" name="Rectangle 15380"/>
          <p:cNvSpPr/>
          <p:nvPr/>
        </p:nvSpPr>
        <p:spPr>
          <a:xfrm>
            <a:off x="365760" y="3877056"/>
            <a:ext cx="137160" cy="137160"/>
          </a:xfrm>
          <a:prstGeom prst="rect">
            <a:avLst/>
          </a:prstGeom>
          <a:solidFill>
            <a:srgbClr val="0070C0"/>
          </a:solidFill>
          <a:ln>
            <a:noFill/>
          </a:ln>
          <a:effectLst/>
        </p:spPr>
        <p:txBody>
          <a:bodyPr rtlCol="0" anchor="t" wrap="square" lIns="54864" rIns="54864" tIns="27432" bIns="27432"/>
          <a:lstStyle/>
          <a:p>
            <a:pPr algn="l">
              <a:spcBef>
                <a:spcPts val="0"/>
              </a:spcBef>
              <a:spcAft>
                <a:spcPts val="0"/>
              </a:spcAft>
            </a:pPr>
            <a:r>
              <a:rPr sz="1200" b="0" i="0">
                <a:solidFill>
                  <a:srgbClr val="1B2733"/>
                </a:solidFill>
                <a:latin typeface="Arial"/>
              </a:rPr>
              <a:t/>
            </a:r>
          </a:p>
        </p:txBody>
      </p:sp>
      <p:sp>
        <p:nvSpPr>
          <p:cNvPr id="15382" name="Rectangle 15381"/>
          <p:cNvSpPr/>
          <p:nvPr/>
        </p:nvSpPr>
        <p:spPr>
          <a:xfrm>
            <a:off x="566928" y="3813048"/>
            <a:ext cx="11228832" cy="274320"/>
          </a:xfrm>
          <a:prstGeom prst="rect">
            <a:avLst/>
          </a:prstGeom>
          <a:noFill/>
          <a:ln>
            <a:noFill/>
          </a:ln>
          <a:effectLst/>
        </p:spPr>
        <p:txBody>
          <a:bodyPr rtlCol="0" anchor="ctr" wrap="square" lIns="0" rIns="0" tIns="27432" bIns="27432"/>
          <a:lstStyle/>
          <a:p>
            <a:pPr algn="l">
              <a:spcBef>
                <a:spcPts val="0"/>
              </a:spcBef>
              <a:spcAft>
                <a:spcPts val="0"/>
              </a:spcAft>
            </a:pPr>
            <a:r>
              <a:rPr sz="1400" b="1" i="0">
                <a:solidFill>
                  <a:srgbClr val="0B2A4A"/>
                </a:solidFill>
                <a:latin typeface="Arial"/>
              </a:rPr>
              <a:t>How it addresses the problem</a:t>
            </a:r>
            <a:r>
              <a:rPr sz="1100" b="0" i="0">
                <a:solidFill>
                  <a:srgbClr val="5A6B7B"/>
                </a:solidFill>
                <a:latin typeface="Arial"/>
              </a:rPr>
              <a:t>   every clause of the problem statement mapped to a working feature</a:t>
            </a:r>
          </a:p>
        </p:txBody>
      </p:sp>
      <p:sp>
        <p:nvSpPr>
          <p:cNvPr id="15383" name="Clause 1"/>
          <p:cNvSpPr/>
          <p:nvPr/>
        </p:nvSpPr>
        <p:spPr>
          <a:xfrm>
            <a:off x="365760" y="4114800"/>
            <a:ext cx="1833372" cy="256032"/>
          </a:xfrm>
          <a:prstGeom prst="rect">
            <a:avLst/>
          </a:prstGeom>
          <a:solidFill>
            <a:srgbClr val="FBE9E7"/>
          </a:solidFill>
          <a:ln>
            <a:noFill/>
          </a:ln>
          <a:effectLst/>
        </p:spPr>
        <p:txBody>
          <a:bodyPr rtlCol="0" anchor="ctr" wrap="square" lIns="27432" rIns="27432" tIns="27432" bIns="27432"/>
          <a:lstStyle/>
          <a:p>
            <a:pPr algn="ctr">
              <a:spcBef>
                <a:spcPts val="0"/>
              </a:spcBef>
              <a:spcAft>
                <a:spcPts val="0"/>
              </a:spcAft>
            </a:pPr>
            <a:r>
              <a:rPr sz="1050" b="1" i="0">
                <a:solidFill>
                  <a:srgbClr val="B93A32"/>
                </a:solidFill>
                <a:latin typeface="Arial"/>
              </a:rPr>
              <a:t>Data not integrated</a:t>
            </a:r>
          </a:p>
        </p:txBody>
      </p:sp>
      <p:sp>
        <p:nvSpPr>
          <p:cNvPr id="15384" name="Solution 1"/>
          <p:cNvSpPr/>
          <p:nvPr/>
        </p:nvSpPr>
        <p:spPr>
          <a:xfrm>
            <a:off x="365760" y="4370832"/>
            <a:ext cx="1833372" cy="713232"/>
          </a:xfrm>
          <a:prstGeom prst="rect">
            <a:avLst/>
          </a:prstGeom>
          <a:solidFill>
            <a:srgbClr val="E4F4EC"/>
          </a:solidFill>
          <a:ln>
            <a:noFill/>
          </a:ln>
          <a:effectLst/>
        </p:spPr>
        <p:txBody>
          <a:bodyPr rtlCol="0" anchor="ctr" wrap="square" lIns="73152" rIns="73152" tIns="27432" bIns="27432"/>
          <a:lstStyle/>
          <a:p>
            <a:pPr algn="l">
              <a:spcBef>
                <a:spcPts val="0"/>
              </a:spcBef>
              <a:spcAft>
                <a:spcPts val="0"/>
              </a:spcAft>
            </a:pPr>
            <a:r>
              <a:rPr sz="1050" b="0" i="0">
                <a:solidFill>
                  <a:srgbClr val="1B2733"/>
                </a:solidFill>
                <a:latin typeface="Arial"/>
              </a:rPr>
              <a:t>5 feeds · 312 mappings · 5 quality guards · 20 unified tech records</a:t>
            </a:r>
          </a:p>
        </p:txBody>
      </p:sp>
      <p:sp>
        <p:nvSpPr>
          <p:cNvPr id="15385" name="Clause 2"/>
          <p:cNvSpPr/>
          <p:nvPr/>
        </p:nvSpPr>
        <p:spPr>
          <a:xfrm>
            <a:off x="2290572" y="4114800"/>
            <a:ext cx="1833372" cy="256032"/>
          </a:xfrm>
          <a:prstGeom prst="rect">
            <a:avLst/>
          </a:prstGeom>
          <a:solidFill>
            <a:srgbClr val="FBE9E7"/>
          </a:solidFill>
          <a:ln>
            <a:noFill/>
          </a:ln>
          <a:effectLst/>
        </p:spPr>
        <p:txBody>
          <a:bodyPr rtlCol="0" anchor="ctr" wrap="square" lIns="27432" rIns="27432" tIns="27432" bIns="27432"/>
          <a:lstStyle/>
          <a:p>
            <a:pPr algn="ctr">
              <a:spcBef>
                <a:spcPts val="0"/>
              </a:spcBef>
              <a:spcAft>
                <a:spcPts val="0"/>
              </a:spcAft>
            </a:pPr>
            <a:r>
              <a:rPr sz="1050" b="1" i="0">
                <a:solidFill>
                  <a:srgbClr val="B93A32"/>
                </a:solidFill>
                <a:latin typeface="Arial"/>
              </a:rPr>
              <a:t>Reactive maintenance</a:t>
            </a:r>
          </a:p>
        </p:txBody>
      </p:sp>
      <p:sp>
        <p:nvSpPr>
          <p:cNvPr id="15386" name="Solution 2"/>
          <p:cNvSpPr/>
          <p:nvPr/>
        </p:nvSpPr>
        <p:spPr>
          <a:xfrm>
            <a:off x="2290572" y="4370832"/>
            <a:ext cx="1833372" cy="713232"/>
          </a:xfrm>
          <a:prstGeom prst="rect">
            <a:avLst/>
          </a:prstGeom>
          <a:solidFill>
            <a:srgbClr val="E4F4EC"/>
          </a:solidFill>
          <a:ln>
            <a:noFill/>
          </a:ln>
          <a:effectLst/>
        </p:spPr>
        <p:txBody>
          <a:bodyPr rtlCol="0" anchor="ctr" wrap="square" lIns="73152" rIns="73152" tIns="27432" bIns="27432"/>
          <a:lstStyle/>
          <a:p>
            <a:pPr algn="l">
              <a:spcBef>
                <a:spcPts val="0"/>
              </a:spcBef>
              <a:spcAft>
                <a:spcPts val="0"/>
              </a:spcAft>
            </a:pPr>
            <a:r>
              <a:rPr sz="1050" b="0" i="0">
                <a:solidFill>
                  <a:srgbClr val="1B2733"/>
                </a:solidFill>
                <a:latin typeface="Arial"/>
              </a:rPr>
              <a:t>29 alerts become planned work; reactive share 69% → 31%</a:t>
            </a:r>
          </a:p>
        </p:txBody>
      </p:sp>
      <p:sp>
        <p:nvSpPr>
          <p:cNvPr id="15387" name="Clause 3"/>
          <p:cNvSpPr/>
          <p:nvPr/>
        </p:nvSpPr>
        <p:spPr>
          <a:xfrm>
            <a:off x="4215384" y="4114800"/>
            <a:ext cx="1833372" cy="256032"/>
          </a:xfrm>
          <a:prstGeom prst="rect">
            <a:avLst/>
          </a:prstGeom>
          <a:solidFill>
            <a:srgbClr val="FBE9E7"/>
          </a:solidFill>
          <a:ln>
            <a:noFill/>
          </a:ln>
          <a:effectLst/>
        </p:spPr>
        <p:txBody>
          <a:bodyPr rtlCol="0" anchor="ctr" wrap="square" lIns="27432" rIns="27432" tIns="27432" bIns="27432"/>
          <a:lstStyle/>
          <a:p>
            <a:pPr algn="ctr">
              <a:spcBef>
                <a:spcPts val="0"/>
              </a:spcBef>
              <a:spcAft>
                <a:spcPts val="0"/>
              </a:spcAft>
            </a:pPr>
            <a:r>
              <a:rPr sz="1050" b="1" i="0">
                <a:solidFill>
                  <a:srgbClr val="B93A32"/>
                </a:solidFill>
                <a:latin typeface="Arial"/>
              </a:rPr>
              <a:t>Delayed fault prediction</a:t>
            </a:r>
          </a:p>
        </p:txBody>
      </p:sp>
      <p:sp>
        <p:nvSpPr>
          <p:cNvPr id="15388" name="Solution 3"/>
          <p:cNvSpPr/>
          <p:nvPr/>
        </p:nvSpPr>
        <p:spPr>
          <a:xfrm>
            <a:off x="4215384" y="4370832"/>
            <a:ext cx="1833372" cy="713232"/>
          </a:xfrm>
          <a:prstGeom prst="rect">
            <a:avLst/>
          </a:prstGeom>
          <a:solidFill>
            <a:srgbClr val="E4F4EC"/>
          </a:solidFill>
          <a:ln>
            <a:noFill/>
          </a:ln>
          <a:effectLst/>
        </p:spPr>
        <p:txBody>
          <a:bodyPr rtlCol="0" anchor="ctr" wrap="square" lIns="73152" rIns="73152" tIns="27432" bIns="27432"/>
          <a:lstStyle/>
          <a:p>
            <a:pPr algn="l">
              <a:spcBef>
                <a:spcPts val="0"/>
              </a:spcBef>
              <a:spcAft>
                <a:spcPts val="0"/>
              </a:spcAft>
            </a:pPr>
            <a:r>
              <a:rPr sz="1050" b="0" i="0">
                <a:solidFill>
                  <a:srgbClr val="1B2733"/>
                </a:solidFill>
                <a:latin typeface="Arial"/>
              </a:rPr>
              <a:t>5.3 days mean early warning from live z-score / CUSUM</a:t>
            </a:r>
          </a:p>
        </p:txBody>
      </p:sp>
      <p:sp>
        <p:nvSpPr>
          <p:cNvPr id="15389" name="Clause 4"/>
          <p:cNvSpPr/>
          <p:nvPr/>
        </p:nvSpPr>
        <p:spPr>
          <a:xfrm>
            <a:off x="6140196" y="4114800"/>
            <a:ext cx="1833372" cy="256032"/>
          </a:xfrm>
          <a:prstGeom prst="rect">
            <a:avLst/>
          </a:prstGeom>
          <a:solidFill>
            <a:srgbClr val="FBE9E7"/>
          </a:solidFill>
          <a:ln>
            <a:noFill/>
          </a:ln>
          <a:effectLst/>
        </p:spPr>
        <p:txBody>
          <a:bodyPr rtlCol="0" anchor="ctr" wrap="square" lIns="27432" rIns="27432" tIns="27432" bIns="27432"/>
          <a:lstStyle/>
          <a:p>
            <a:pPr algn="ctr">
              <a:spcBef>
                <a:spcPts val="0"/>
              </a:spcBef>
              <a:spcAft>
                <a:spcPts val="0"/>
              </a:spcAft>
            </a:pPr>
            <a:r>
              <a:rPr sz="1050" b="1" i="0">
                <a:solidFill>
                  <a:srgbClr val="B93A32"/>
                </a:solidFill>
                <a:latin typeface="Arial"/>
              </a:rPr>
              <a:t>Avoidable downtime</a:t>
            </a:r>
          </a:p>
        </p:txBody>
      </p:sp>
      <p:sp>
        <p:nvSpPr>
          <p:cNvPr id="15390" name="Solution 4"/>
          <p:cNvSpPr/>
          <p:nvPr/>
        </p:nvSpPr>
        <p:spPr>
          <a:xfrm>
            <a:off x="6140196" y="4370832"/>
            <a:ext cx="1833372" cy="713232"/>
          </a:xfrm>
          <a:prstGeom prst="rect">
            <a:avLst/>
          </a:prstGeom>
          <a:solidFill>
            <a:srgbClr val="E4F4EC"/>
          </a:solidFill>
          <a:ln>
            <a:noFill/>
          </a:ln>
          <a:effectLst/>
        </p:spPr>
        <p:txBody>
          <a:bodyPr rtlCol="0" anchor="ctr" wrap="square" lIns="73152" rIns="73152" tIns="27432" bIns="27432"/>
          <a:lstStyle/>
          <a:p>
            <a:pPr algn="l">
              <a:spcBef>
                <a:spcPts val="0"/>
              </a:spcBef>
              <a:spcAft>
                <a:spcPts val="0"/>
              </a:spcAft>
            </a:pPr>
            <a:r>
              <a:rPr sz="1050" b="0" i="0">
                <a:solidFill>
                  <a:srgbClr val="1B2733"/>
                </a:solidFill>
                <a:latin typeface="Arial"/>
              </a:rPr>
              <a:t>5,957 downtime hours avoided; MTTR 41 h → 21.9 h</a:t>
            </a:r>
          </a:p>
        </p:txBody>
      </p:sp>
      <p:sp>
        <p:nvSpPr>
          <p:cNvPr id="15391" name="Clause 5"/>
          <p:cNvSpPr/>
          <p:nvPr/>
        </p:nvSpPr>
        <p:spPr>
          <a:xfrm>
            <a:off x="8065008" y="4114800"/>
            <a:ext cx="1833372" cy="256032"/>
          </a:xfrm>
          <a:prstGeom prst="rect">
            <a:avLst/>
          </a:prstGeom>
          <a:solidFill>
            <a:srgbClr val="FBE9E7"/>
          </a:solidFill>
          <a:ln>
            <a:noFill/>
          </a:ln>
          <a:effectLst/>
        </p:spPr>
        <p:txBody>
          <a:bodyPr rtlCol="0" anchor="ctr" wrap="square" lIns="27432" rIns="27432" tIns="27432" bIns="27432"/>
          <a:lstStyle/>
          <a:p>
            <a:pPr algn="ctr">
              <a:spcBef>
                <a:spcPts val="0"/>
              </a:spcBef>
              <a:spcAft>
                <a:spcPts val="0"/>
              </a:spcAft>
            </a:pPr>
            <a:r>
              <a:rPr sz="1050" b="1" i="0">
                <a:solidFill>
                  <a:srgbClr val="B93A32"/>
                </a:solidFill>
                <a:latin typeface="Arial"/>
              </a:rPr>
              <a:t>Sub-optimal asset use</a:t>
            </a:r>
          </a:p>
        </p:txBody>
      </p:sp>
      <p:sp>
        <p:nvSpPr>
          <p:cNvPr id="15392" name="Solution 5"/>
          <p:cNvSpPr/>
          <p:nvPr/>
        </p:nvSpPr>
        <p:spPr>
          <a:xfrm>
            <a:off x="8065008" y="4370832"/>
            <a:ext cx="1833372" cy="713232"/>
          </a:xfrm>
          <a:prstGeom prst="rect">
            <a:avLst/>
          </a:prstGeom>
          <a:solidFill>
            <a:srgbClr val="E4F4EC"/>
          </a:solidFill>
          <a:ln>
            <a:noFill/>
          </a:ln>
          <a:effectLst/>
        </p:spPr>
        <p:txBody>
          <a:bodyPr rtlCol="0" anchor="ctr" wrap="square" lIns="73152" rIns="73152" tIns="27432" bIns="27432"/>
          <a:lstStyle/>
          <a:p>
            <a:pPr algn="l">
              <a:spcBef>
                <a:spcPts val="0"/>
              </a:spcBef>
              <a:spcAft>
                <a:spcPts val="0"/>
              </a:spcAft>
            </a:pPr>
            <a:r>
              <a:rPr sz="1050" b="0" i="0">
                <a:solidFill>
                  <a:srgbClr val="1B2733"/>
                </a:solidFill>
                <a:latin typeface="Arial"/>
              </a:rPr>
              <a:t>Per-tail utilisation; 11 of 12 spare lines risk-flagged</a:t>
            </a:r>
          </a:p>
        </p:txBody>
      </p:sp>
      <p:sp>
        <p:nvSpPr>
          <p:cNvPr id="15393" name="Clause 6"/>
          <p:cNvSpPr/>
          <p:nvPr/>
        </p:nvSpPr>
        <p:spPr>
          <a:xfrm>
            <a:off x="9989820" y="4114800"/>
            <a:ext cx="1833372" cy="256032"/>
          </a:xfrm>
          <a:prstGeom prst="rect">
            <a:avLst/>
          </a:prstGeom>
          <a:solidFill>
            <a:srgbClr val="FBE9E7"/>
          </a:solidFill>
          <a:ln>
            <a:noFill/>
          </a:ln>
          <a:effectLst/>
        </p:spPr>
        <p:txBody>
          <a:bodyPr rtlCol="0" anchor="ctr" wrap="square" lIns="27432" rIns="27432" tIns="27432" bIns="27432"/>
          <a:lstStyle/>
          <a:p>
            <a:pPr algn="ctr">
              <a:spcBef>
                <a:spcPts val="0"/>
              </a:spcBef>
              <a:spcAft>
                <a:spcPts val="0"/>
              </a:spcAft>
            </a:pPr>
            <a:r>
              <a:rPr sz="1050" b="1" i="0">
                <a:solidFill>
                  <a:srgbClr val="B93A32"/>
                </a:solidFill>
                <a:latin typeface="Arial"/>
              </a:rPr>
              <a:t>Low availability</a:t>
            </a:r>
          </a:p>
        </p:txBody>
      </p:sp>
      <p:sp>
        <p:nvSpPr>
          <p:cNvPr id="15394" name="Solution 6"/>
          <p:cNvSpPr/>
          <p:nvPr/>
        </p:nvSpPr>
        <p:spPr>
          <a:xfrm>
            <a:off x="9989820" y="4370832"/>
            <a:ext cx="1833372" cy="713232"/>
          </a:xfrm>
          <a:prstGeom prst="rect">
            <a:avLst/>
          </a:prstGeom>
          <a:solidFill>
            <a:srgbClr val="E4F4EC"/>
          </a:solidFill>
          <a:ln>
            <a:noFill/>
          </a:ln>
          <a:effectLst/>
        </p:spPr>
        <p:txBody>
          <a:bodyPr rtlCol="0" anchor="ctr" wrap="square" lIns="73152" rIns="73152" tIns="27432" bIns="27432"/>
          <a:lstStyle/>
          <a:p>
            <a:pPr algn="l">
              <a:spcBef>
                <a:spcPts val="0"/>
              </a:spcBef>
              <a:spcAft>
                <a:spcPts val="0"/>
              </a:spcAft>
            </a:pPr>
            <a:r>
              <a:rPr sz="1050" b="0" i="0">
                <a:solidFill>
                  <a:srgbClr val="1B2733"/>
                </a:solidFill>
                <a:latin typeface="Arial"/>
              </a:rPr>
              <a:t>Availability 68% → 75% against a reactive baseline</a:t>
            </a:r>
          </a:p>
        </p:txBody>
      </p:sp>
      <p:sp>
        <p:nvSpPr>
          <p:cNvPr id="15395" name="Rectangle 15394"/>
          <p:cNvSpPr/>
          <p:nvPr/>
        </p:nvSpPr>
        <p:spPr>
          <a:xfrm>
            <a:off x="365760" y="5239512"/>
            <a:ext cx="137160" cy="137160"/>
          </a:xfrm>
          <a:prstGeom prst="rect">
            <a:avLst/>
          </a:prstGeom>
          <a:solidFill>
            <a:srgbClr val="0070C0"/>
          </a:solidFill>
          <a:ln>
            <a:noFill/>
          </a:ln>
          <a:effectLst/>
        </p:spPr>
        <p:txBody>
          <a:bodyPr rtlCol="0" anchor="t" wrap="square" lIns="54864" rIns="54864" tIns="27432" bIns="27432"/>
          <a:lstStyle/>
          <a:p>
            <a:pPr algn="l">
              <a:spcBef>
                <a:spcPts val="0"/>
              </a:spcBef>
              <a:spcAft>
                <a:spcPts val="0"/>
              </a:spcAft>
            </a:pPr>
            <a:r>
              <a:rPr sz="1200" b="0" i="0">
                <a:solidFill>
                  <a:srgbClr val="1B2733"/>
                </a:solidFill>
                <a:latin typeface="Arial"/>
              </a:rPr>
              <a:t/>
            </a:r>
          </a:p>
        </p:txBody>
      </p:sp>
      <p:sp>
        <p:nvSpPr>
          <p:cNvPr id="15396" name="Rectangle 15395"/>
          <p:cNvSpPr/>
          <p:nvPr/>
        </p:nvSpPr>
        <p:spPr>
          <a:xfrm>
            <a:off x="566928" y="5175504"/>
            <a:ext cx="11228832" cy="274320"/>
          </a:xfrm>
          <a:prstGeom prst="rect">
            <a:avLst/>
          </a:prstGeom>
          <a:noFill/>
          <a:ln>
            <a:noFill/>
          </a:ln>
          <a:effectLst/>
        </p:spPr>
        <p:txBody>
          <a:bodyPr rtlCol="0" anchor="ctr" wrap="square" lIns="0" rIns="0" tIns="27432" bIns="27432"/>
          <a:lstStyle/>
          <a:p>
            <a:pPr algn="l">
              <a:spcBef>
                <a:spcPts val="0"/>
              </a:spcBef>
              <a:spcAft>
                <a:spcPts val="0"/>
              </a:spcAft>
            </a:pPr>
            <a:r>
              <a:rPr sz="1400" b="1" i="0">
                <a:solidFill>
                  <a:srgbClr val="0B2A4A"/>
                </a:solidFill>
                <a:latin typeface="Arial"/>
              </a:rPr>
              <a:t>Innovation and uniqueness of the solution</a:t>
            </a:r>
          </a:p>
        </p:txBody>
      </p:sp>
      <p:sp>
        <p:nvSpPr>
          <p:cNvPr id="15397" name="Innovation 1"/>
          <p:cNvSpPr/>
          <p:nvPr/>
        </p:nvSpPr>
        <p:spPr>
          <a:xfrm>
            <a:off x="365760" y="5477256"/>
            <a:ext cx="2782062" cy="768096"/>
          </a:xfrm>
          <a:prstGeom prst="roundRect">
            <a:avLst>
              <a:gd name="adj" fmla="val 10000"/>
            </a:avLst>
          </a:prstGeom>
          <a:solidFill>
            <a:srgbClr val="EAF3FB"/>
          </a:solidFill>
          <a:ln>
            <a:noFill/>
          </a:ln>
          <a:effectLst/>
        </p:spPr>
        <p:txBody>
          <a:bodyPr rtlCol="0" anchor="ctr" wrap="square" tIns="27432" bIns="27432"/>
          <a:lstStyle/>
          <a:p>
            <a:pPr algn="l">
              <a:spcBef>
                <a:spcPts val="0"/>
              </a:spcBef>
              <a:spcAft>
                <a:spcPts val="200"/>
              </a:spcAft>
            </a:pPr>
            <a:r>
              <a:rPr sz="1150" b="1" i="0">
                <a:solidFill>
                  <a:srgbClr val="0B2A4A"/>
                </a:solidFill>
                <a:latin typeface="Arial"/>
              </a:rPr>
              <a:t>Closed loop, not a dashboard</a:t>
            </a:r>
          </a:p>
          <a:p>
            <a:pPr algn="l">
              <a:spcBef>
                <a:spcPts val="0"/>
              </a:spcBef>
              <a:spcAft>
                <a:spcPts val="0"/>
              </a:spcAft>
            </a:pPr>
            <a:r>
              <a:rPr sz="1050" b="0" i="0">
                <a:solidFill>
                  <a:srgbClr val="1B2733"/>
                </a:solidFill>
                <a:latin typeface="Arial"/>
              </a:rPr>
              <a:t>Actions write back to Work control and Spares, persist, and are audit-logged</a:t>
            </a:r>
          </a:p>
        </p:txBody>
      </p:sp>
      <p:sp>
        <p:nvSpPr>
          <p:cNvPr id="15398" name="Innovation 2"/>
          <p:cNvSpPr/>
          <p:nvPr/>
        </p:nvSpPr>
        <p:spPr>
          <a:xfrm>
            <a:off x="3257550" y="5477256"/>
            <a:ext cx="2782062" cy="768096"/>
          </a:xfrm>
          <a:prstGeom prst="roundRect">
            <a:avLst>
              <a:gd name="adj" fmla="val 10000"/>
            </a:avLst>
          </a:prstGeom>
          <a:solidFill>
            <a:srgbClr val="EAF3FB"/>
          </a:solidFill>
          <a:ln>
            <a:noFill/>
          </a:ln>
          <a:effectLst/>
        </p:spPr>
        <p:txBody>
          <a:bodyPr rtlCol="0" anchor="ctr" wrap="square" tIns="27432" bIns="27432"/>
          <a:lstStyle/>
          <a:p>
            <a:pPr algn="l">
              <a:spcBef>
                <a:spcPts val="0"/>
              </a:spcBef>
              <a:spcAft>
                <a:spcPts val="200"/>
              </a:spcAft>
            </a:pPr>
            <a:r>
              <a:rPr sz="1150" b="1" i="0">
                <a:solidFill>
                  <a:srgbClr val="0B2A4A"/>
                </a:solidFill>
                <a:latin typeface="Arial"/>
              </a:rPr>
              <a:t>Real detection maths</a:t>
            </a:r>
          </a:p>
          <a:p>
            <a:pPr algn="l">
              <a:spcBef>
                <a:spcPts val="0"/>
              </a:spcBef>
              <a:spcAft>
                <a:spcPts val="0"/>
              </a:spcAft>
            </a:pPr>
            <a:r>
              <a:rPr sz="1050" b="0" i="0">
                <a:solidFill>
                  <a:srgbClr val="1B2733"/>
                </a:solidFill>
                <a:latin typeface="Arial"/>
              </a:rPr>
              <a:t>Same online code scores the live stream and an imported real CSV</a:t>
            </a:r>
          </a:p>
        </p:txBody>
      </p:sp>
      <p:sp>
        <p:nvSpPr>
          <p:cNvPr id="15399" name="Innovation 3"/>
          <p:cNvSpPr/>
          <p:nvPr/>
        </p:nvSpPr>
        <p:spPr>
          <a:xfrm>
            <a:off x="6149340" y="5477256"/>
            <a:ext cx="2782062" cy="768096"/>
          </a:xfrm>
          <a:prstGeom prst="roundRect">
            <a:avLst>
              <a:gd name="adj" fmla="val 10000"/>
            </a:avLst>
          </a:prstGeom>
          <a:solidFill>
            <a:srgbClr val="EAF3FB"/>
          </a:solidFill>
          <a:ln>
            <a:noFill/>
          </a:ln>
          <a:effectLst/>
        </p:spPr>
        <p:txBody>
          <a:bodyPr rtlCol="0" anchor="ctr" wrap="square" tIns="27432" bIns="27432"/>
          <a:lstStyle/>
          <a:p>
            <a:pPr algn="l">
              <a:spcBef>
                <a:spcPts val="0"/>
              </a:spcBef>
              <a:spcAft>
                <a:spcPts val="200"/>
              </a:spcAft>
            </a:pPr>
            <a:r>
              <a:rPr sz="1150" b="1" i="0">
                <a:solidFill>
                  <a:srgbClr val="0B2A4A"/>
                </a:solidFill>
                <a:latin typeface="Arial"/>
              </a:rPr>
              <a:t>Integration-first honesty</a:t>
            </a:r>
          </a:p>
          <a:p>
            <a:pPr algn="l">
              <a:spcBef>
                <a:spcPts val="0"/>
              </a:spcBef>
              <a:spcAft>
                <a:spcPts val="0"/>
              </a:spcAft>
            </a:pPr>
            <a:r>
              <a:rPr sz="1050" b="0" i="0">
                <a:solidFill>
                  <a:srgbClr val="1B2733"/>
                </a:solidFill>
                <a:latin typeface="Arial"/>
              </a:rPr>
              <a:t>STALE / SYNCING feeds shown; bad records quarantined before the model</a:t>
            </a:r>
          </a:p>
        </p:txBody>
      </p:sp>
      <p:sp>
        <p:nvSpPr>
          <p:cNvPr id="15400" name="Innovation 4"/>
          <p:cNvSpPr/>
          <p:nvPr/>
        </p:nvSpPr>
        <p:spPr>
          <a:xfrm>
            <a:off x="9041130" y="5477256"/>
            <a:ext cx="2782062" cy="768096"/>
          </a:xfrm>
          <a:prstGeom prst="roundRect">
            <a:avLst>
              <a:gd name="adj" fmla="val 10000"/>
            </a:avLst>
          </a:prstGeom>
          <a:solidFill>
            <a:srgbClr val="EAF3FB"/>
          </a:solidFill>
          <a:ln>
            <a:noFill/>
          </a:ln>
          <a:effectLst/>
        </p:spPr>
        <p:txBody>
          <a:bodyPr rtlCol="0" anchor="ctr" wrap="square" tIns="27432" bIns="27432"/>
          <a:lstStyle/>
          <a:p>
            <a:pPr algn="l">
              <a:spcBef>
                <a:spcPts val="0"/>
              </a:spcBef>
              <a:spcAft>
                <a:spcPts val="200"/>
              </a:spcAft>
            </a:pPr>
            <a:r>
              <a:rPr sz="1150" b="1" i="0">
                <a:solidFill>
                  <a:srgbClr val="0B2A4A"/>
                </a:solidFill>
                <a:latin typeface="Arial"/>
              </a:rPr>
              <a:t>One source of truth</a:t>
            </a:r>
          </a:p>
          <a:p>
            <a:pPr algn="l">
              <a:spcBef>
                <a:spcPts val="0"/>
              </a:spcBef>
              <a:spcAft>
                <a:spcPts val="0"/>
              </a:spcAft>
            </a:pPr>
            <a:r>
              <a:rPr sz="1050" b="0" i="0">
                <a:solidFill>
                  <a:srgbClr val="1B2733"/>
                </a:solidFill>
                <a:latin typeface="Arial"/>
              </a:rPr>
              <a:t>Every KPI, trend and before/after figure derives from one baseline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Rectangle 17409"/>
          <p:cNvSpPr/>
          <p:nvPr/>
        </p:nvSpPr>
        <p:spPr>
          <a:xfrm>
            <a:off x="365760" y="1234440"/>
            <a:ext cx="137160" cy="137160"/>
          </a:xfrm>
          <a:prstGeom prst="rect">
            <a:avLst/>
          </a:prstGeom>
          <a:solidFill>
            <a:srgbClr val="0070C0"/>
          </a:solidFill>
          <a:ln>
            <a:noFill/>
          </a:ln>
          <a:effectLst/>
        </p:spPr>
        <p:txBody>
          <a:bodyPr rtlCol="0" anchor="t" wrap="square" lIns="54864" rIns="54864" tIns="27432" bIns="27432"/>
          <a:lstStyle/>
          <a:p>
            <a:pPr algn="l">
              <a:spcBef>
                <a:spcPts val="0"/>
              </a:spcBef>
              <a:spcAft>
                <a:spcPts val="0"/>
              </a:spcAft>
            </a:pPr>
            <a:r>
              <a:rPr sz="1200" b="0" i="0">
                <a:solidFill>
                  <a:srgbClr val="1B2733"/>
                </a:solidFill>
                <a:latin typeface="Arial"/>
              </a:rPr>
              <a:t/>
            </a:r>
          </a:p>
        </p:txBody>
      </p:sp>
      <p:sp>
        <p:nvSpPr>
          <p:cNvPr id="17411" name="Rectangle 17410"/>
          <p:cNvSpPr/>
          <p:nvPr/>
        </p:nvSpPr>
        <p:spPr>
          <a:xfrm>
            <a:off x="566928" y="1170432"/>
            <a:ext cx="4005072" cy="274320"/>
          </a:xfrm>
          <a:prstGeom prst="rect">
            <a:avLst/>
          </a:prstGeom>
          <a:noFill/>
          <a:ln>
            <a:noFill/>
          </a:ln>
          <a:effectLst/>
        </p:spPr>
        <p:txBody>
          <a:bodyPr rtlCol="0" anchor="ctr" wrap="square" lIns="0" rIns="0" tIns="27432" bIns="27432"/>
          <a:lstStyle/>
          <a:p>
            <a:pPr algn="l">
              <a:spcBef>
                <a:spcPts val="0"/>
              </a:spcBef>
              <a:spcAft>
                <a:spcPts val="0"/>
              </a:spcAft>
            </a:pPr>
            <a:r>
              <a:rPr sz="1400" b="1" i="0">
                <a:solidFill>
                  <a:srgbClr val="0B2A4A"/>
                </a:solidFill>
                <a:latin typeface="Arial"/>
              </a:rPr>
              <a:t>Technologies to be used</a:t>
            </a:r>
          </a:p>
        </p:txBody>
      </p:sp>
      <p:sp>
        <p:nvSpPr>
          <p:cNvPr id="17412" name="Rectangle 17411"/>
          <p:cNvSpPr/>
          <p:nvPr/>
        </p:nvSpPr>
        <p:spPr>
          <a:xfrm>
            <a:off x="566928" y="1444752"/>
            <a:ext cx="4023360" cy="256032"/>
          </a:xfrm>
          <a:prstGeom prst="rect">
            <a:avLst/>
          </a:prstGeom>
          <a:noFill/>
          <a:ln>
            <a:noFill/>
          </a:ln>
          <a:effectLst/>
        </p:spPr>
        <p:txBody>
          <a:bodyPr rtlCol="0" anchor="t" wrap="square" lIns="0" rIns="0" tIns="27432" bIns="27432"/>
          <a:lstStyle/>
          <a:p>
            <a:pPr algn="l">
              <a:spcBef>
                <a:spcPts val="0"/>
              </a:spcBef>
              <a:spcAft>
                <a:spcPts val="0"/>
              </a:spcAft>
            </a:pPr>
            <a:r>
              <a:rPr sz="1050" b="0" i="0">
                <a:solidFill>
                  <a:srgbClr val="5A6B7B"/>
                </a:solidFill>
                <a:latin typeface="Arial"/>
              </a:rPr>
              <a:t>(programming languages, frameworks, hardware)</a:t>
            </a:r>
          </a:p>
        </p:txBody>
      </p:sp>
      <p:sp>
        <p:nvSpPr>
          <p:cNvPr id="17413" name="Tech label 1"/>
          <p:cNvSpPr/>
          <p:nvPr/>
        </p:nvSpPr>
        <p:spPr>
          <a:xfrm>
            <a:off x="365760" y="1755648"/>
            <a:ext cx="1097280" cy="475488"/>
          </a:xfrm>
          <a:prstGeom prst="roundRect">
            <a:avLst>
              <a:gd name="adj" fmla="val 20000"/>
            </a:avLst>
          </a:prstGeom>
          <a:solidFill>
            <a:srgbClr val="0070C0"/>
          </a:solidFill>
          <a:ln>
            <a:noFill/>
          </a:ln>
          <a:effectLst/>
        </p:spPr>
        <p:txBody>
          <a:bodyPr rtlCol="0" anchor="ctr" wrap="square" lIns="36576" rIns="36576" tIns="27432" bIns="27432"/>
          <a:lstStyle/>
          <a:p>
            <a:pPr algn="ctr">
              <a:spcBef>
                <a:spcPts val="0"/>
              </a:spcBef>
              <a:spcAft>
                <a:spcPts val="0"/>
              </a:spcAft>
            </a:pPr>
            <a:r>
              <a:rPr sz="1100" b="1" i="0">
                <a:solidFill>
                  <a:srgbClr val="FFFFFF"/>
                </a:solidFill>
                <a:latin typeface="Arial"/>
              </a:rPr>
              <a:t>Language</a:t>
            </a:r>
          </a:p>
        </p:txBody>
      </p:sp>
      <p:sp>
        <p:nvSpPr>
          <p:cNvPr id="17414" name="Tech value 1"/>
          <p:cNvSpPr/>
          <p:nvPr/>
        </p:nvSpPr>
        <p:spPr>
          <a:xfrm>
            <a:off x="1536192" y="1755648"/>
            <a:ext cx="3017520" cy="475488"/>
          </a:xfrm>
          <a:prstGeom prst="roundRect">
            <a:avLst>
              <a:gd name="adj" fmla="val 12000"/>
            </a:avLst>
          </a:prstGeom>
          <a:solidFill>
            <a:srgbClr val="EAF3FB"/>
          </a:solidFill>
          <a:ln>
            <a:noFill/>
          </a:ln>
          <a:effectLst/>
        </p:spPr>
        <p:txBody>
          <a:bodyPr rtlCol="0" anchor="ctr" wrap="square" tIns="27432" bIns="27432"/>
          <a:lstStyle/>
          <a:p>
            <a:pPr algn="l">
              <a:spcBef>
                <a:spcPts val="0"/>
              </a:spcBef>
              <a:spcAft>
                <a:spcPts val="0"/>
              </a:spcAft>
            </a:pPr>
            <a:r>
              <a:rPr sz="1100" b="0" i="0">
                <a:solidFill>
                  <a:srgbClr val="1B2733"/>
                </a:solidFill>
                <a:latin typeface="Arial"/>
              </a:rPr>
              <a:t>TypeScript (strict) – typed 9-entity domain model</a:t>
            </a:r>
          </a:p>
        </p:txBody>
      </p:sp>
      <p:sp>
        <p:nvSpPr>
          <p:cNvPr id="17415" name="Tech label 2"/>
          <p:cNvSpPr/>
          <p:nvPr/>
        </p:nvSpPr>
        <p:spPr>
          <a:xfrm>
            <a:off x="365760" y="2304288"/>
            <a:ext cx="1097280" cy="475488"/>
          </a:xfrm>
          <a:prstGeom prst="roundRect">
            <a:avLst>
              <a:gd name="adj" fmla="val 20000"/>
            </a:avLst>
          </a:prstGeom>
          <a:solidFill>
            <a:srgbClr val="0070C0"/>
          </a:solidFill>
          <a:ln>
            <a:noFill/>
          </a:ln>
          <a:effectLst/>
        </p:spPr>
        <p:txBody>
          <a:bodyPr rtlCol="0" anchor="ctr" wrap="square" lIns="36576" rIns="36576" tIns="27432" bIns="27432"/>
          <a:lstStyle/>
          <a:p>
            <a:pPr algn="ctr">
              <a:spcBef>
                <a:spcPts val="0"/>
              </a:spcBef>
              <a:spcAft>
                <a:spcPts val="0"/>
              </a:spcAft>
            </a:pPr>
            <a:r>
              <a:rPr sz="1100" b="1" i="0">
                <a:solidFill>
                  <a:srgbClr val="FFFFFF"/>
                </a:solidFill>
                <a:latin typeface="Arial"/>
              </a:rPr>
              <a:t>UI</a:t>
            </a:r>
          </a:p>
        </p:txBody>
      </p:sp>
      <p:sp>
        <p:nvSpPr>
          <p:cNvPr id="17416" name="Tech value 2"/>
          <p:cNvSpPr/>
          <p:nvPr/>
        </p:nvSpPr>
        <p:spPr>
          <a:xfrm>
            <a:off x="1536192" y="2304288"/>
            <a:ext cx="3017520" cy="475488"/>
          </a:xfrm>
          <a:prstGeom prst="roundRect">
            <a:avLst>
              <a:gd name="adj" fmla="val 12000"/>
            </a:avLst>
          </a:prstGeom>
          <a:solidFill>
            <a:srgbClr val="EAF3FB"/>
          </a:solidFill>
          <a:ln>
            <a:noFill/>
          </a:ln>
          <a:effectLst/>
        </p:spPr>
        <p:txBody>
          <a:bodyPr rtlCol="0" anchor="ctr" wrap="square" tIns="27432" bIns="27432"/>
          <a:lstStyle/>
          <a:p>
            <a:pPr algn="l">
              <a:spcBef>
                <a:spcPts val="0"/>
              </a:spcBef>
              <a:spcAft>
                <a:spcPts val="0"/>
              </a:spcAft>
            </a:pPr>
            <a:r>
              <a:rPr sz="1100" b="0" i="0">
                <a:solidFill>
                  <a:srgbClr val="1B2733"/>
                </a:solidFill>
                <a:latin typeface="Arial"/>
              </a:rPr>
              <a:t>React 18 + Vite</a:t>
            </a:r>
          </a:p>
        </p:txBody>
      </p:sp>
      <p:sp>
        <p:nvSpPr>
          <p:cNvPr id="17417" name="Tech label 3"/>
          <p:cNvSpPr/>
          <p:nvPr/>
        </p:nvSpPr>
        <p:spPr>
          <a:xfrm>
            <a:off x="365760" y="2852928"/>
            <a:ext cx="1097280" cy="475488"/>
          </a:xfrm>
          <a:prstGeom prst="roundRect">
            <a:avLst>
              <a:gd name="adj" fmla="val 20000"/>
            </a:avLst>
          </a:prstGeom>
          <a:solidFill>
            <a:srgbClr val="0070C0"/>
          </a:solidFill>
          <a:ln>
            <a:noFill/>
          </a:ln>
          <a:effectLst/>
        </p:spPr>
        <p:txBody>
          <a:bodyPr rtlCol="0" anchor="ctr" wrap="square" lIns="36576" rIns="36576" tIns="27432" bIns="27432"/>
          <a:lstStyle/>
          <a:p>
            <a:pPr algn="ctr">
              <a:spcBef>
                <a:spcPts val="0"/>
              </a:spcBef>
              <a:spcAft>
                <a:spcPts val="0"/>
              </a:spcAft>
            </a:pPr>
            <a:r>
              <a:rPr sz="1100" b="1" i="0">
                <a:solidFill>
                  <a:srgbClr val="FFFFFF"/>
                </a:solidFill>
                <a:latin typeface="Arial"/>
              </a:rPr>
              <a:t>Styling</a:t>
            </a:r>
          </a:p>
        </p:txBody>
      </p:sp>
      <p:sp>
        <p:nvSpPr>
          <p:cNvPr id="17418" name="Tech value 3"/>
          <p:cNvSpPr/>
          <p:nvPr/>
        </p:nvSpPr>
        <p:spPr>
          <a:xfrm>
            <a:off x="1536192" y="2852928"/>
            <a:ext cx="3017520" cy="475488"/>
          </a:xfrm>
          <a:prstGeom prst="roundRect">
            <a:avLst>
              <a:gd name="adj" fmla="val 12000"/>
            </a:avLst>
          </a:prstGeom>
          <a:solidFill>
            <a:srgbClr val="EAF3FB"/>
          </a:solidFill>
          <a:ln>
            <a:noFill/>
          </a:ln>
          <a:effectLst/>
        </p:spPr>
        <p:txBody>
          <a:bodyPr rtlCol="0" anchor="ctr" wrap="square" tIns="27432" bIns="27432"/>
          <a:lstStyle/>
          <a:p>
            <a:pPr algn="l">
              <a:spcBef>
                <a:spcPts val="0"/>
              </a:spcBef>
              <a:spcAft>
                <a:spcPts val="0"/>
              </a:spcAft>
            </a:pPr>
            <a:r>
              <a:rPr sz="1100" b="0" i="0">
                <a:solidFill>
                  <a:srgbClr val="1B2733"/>
                </a:solidFill>
                <a:latin typeface="Arial"/>
              </a:rPr>
              <a:t>Hand-written responsive CSS, 390 px → 1920 px</a:t>
            </a:r>
          </a:p>
        </p:txBody>
      </p:sp>
      <p:sp>
        <p:nvSpPr>
          <p:cNvPr id="17419" name="Tech label 4"/>
          <p:cNvSpPr/>
          <p:nvPr/>
        </p:nvSpPr>
        <p:spPr>
          <a:xfrm>
            <a:off x="365760" y="3401568"/>
            <a:ext cx="1097280" cy="475488"/>
          </a:xfrm>
          <a:prstGeom prst="roundRect">
            <a:avLst>
              <a:gd name="adj" fmla="val 20000"/>
            </a:avLst>
          </a:prstGeom>
          <a:solidFill>
            <a:srgbClr val="0070C0"/>
          </a:solidFill>
          <a:ln>
            <a:noFill/>
          </a:ln>
          <a:effectLst/>
        </p:spPr>
        <p:txBody>
          <a:bodyPr rtlCol="0" anchor="ctr" wrap="square" lIns="36576" rIns="36576" tIns="27432" bIns="27432"/>
          <a:lstStyle/>
          <a:p>
            <a:pPr algn="ctr">
              <a:spcBef>
                <a:spcPts val="0"/>
              </a:spcBef>
              <a:spcAft>
                <a:spcPts val="0"/>
              </a:spcAft>
            </a:pPr>
            <a:r>
              <a:rPr sz="1100" b="1" i="0">
                <a:solidFill>
                  <a:srgbClr val="FFFFFF"/>
                </a:solidFill>
                <a:latin typeface="Arial"/>
              </a:rPr>
              <a:t>Charts &amp; twin</a:t>
            </a:r>
          </a:p>
        </p:txBody>
      </p:sp>
      <p:sp>
        <p:nvSpPr>
          <p:cNvPr id="17420" name="Tech value 4"/>
          <p:cNvSpPr/>
          <p:nvPr/>
        </p:nvSpPr>
        <p:spPr>
          <a:xfrm>
            <a:off x="1536192" y="3401568"/>
            <a:ext cx="3017520" cy="475488"/>
          </a:xfrm>
          <a:prstGeom prst="roundRect">
            <a:avLst>
              <a:gd name="adj" fmla="val 12000"/>
            </a:avLst>
          </a:prstGeom>
          <a:solidFill>
            <a:srgbClr val="EAF3FB"/>
          </a:solidFill>
          <a:ln>
            <a:noFill/>
          </a:ln>
          <a:effectLst/>
        </p:spPr>
        <p:txBody>
          <a:bodyPr rtlCol="0" anchor="ctr" wrap="square" tIns="27432" bIns="27432"/>
          <a:lstStyle/>
          <a:p>
            <a:pPr algn="l">
              <a:spcBef>
                <a:spcPts val="0"/>
              </a:spcBef>
              <a:spcAft>
                <a:spcPts val="0"/>
              </a:spcAft>
            </a:pPr>
            <a:r>
              <a:rPr sz="1100" b="0" i="0">
                <a:solidFill>
                  <a:srgbClr val="1B2733"/>
                </a:solidFill>
                <a:latin typeface="Arial"/>
              </a:rPr>
              <a:t>Custom SVG – no chart library</a:t>
            </a:r>
          </a:p>
        </p:txBody>
      </p:sp>
      <p:sp>
        <p:nvSpPr>
          <p:cNvPr id="17421" name="Tech label 5"/>
          <p:cNvSpPr/>
          <p:nvPr/>
        </p:nvSpPr>
        <p:spPr>
          <a:xfrm>
            <a:off x="365760" y="3950208"/>
            <a:ext cx="1097280" cy="475488"/>
          </a:xfrm>
          <a:prstGeom prst="roundRect">
            <a:avLst>
              <a:gd name="adj" fmla="val 20000"/>
            </a:avLst>
          </a:prstGeom>
          <a:solidFill>
            <a:srgbClr val="0070C0"/>
          </a:solidFill>
          <a:ln>
            <a:noFill/>
          </a:ln>
          <a:effectLst/>
        </p:spPr>
        <p:txBody>
          <a:bodyPr rtlCol="0" anchor="ctr" wrap="square" lIns="36576" rIns="36576" tIns="27432" bIns="27432"/>
          <a:lstStyle/>
          <a:p>
            <a:pPr algn="ctr">
              <a:spcBef>
                <a:spcPts val="0"/>
              </a:spcBef>
              <a:spcAft>
                <a:spcPts val="0"/>
              </a:spcAft>
            </a:pPr>
            <a:r>
              <a:rPr sz="1100" b="1" i="0">
                <a:solidFill>
                  <a:srgbClr val="FFFFFF"/>
                </a:solidFill>
                <a:latin typeface="Arial"/>
              </a:rPr>
              <a:t>State</a:t>
            </a:r>
          </a:p>
        </p:txBody>
      </p:sp>
      <p:sp>
        <p:nvSpPr>
          <p:cNvPr id="17422" name="Tech value 5"/>
          <p:cNvSpPr/>
          <p:nvPr/>
        </p:nvSpPr>
        <p:spPr>
          <a:xfrm>
            <a:off x="1536192" y="3950208"/>
            <a:ext cx="3017520" cy="475488"/>
          </a:xfrm>
          <a:prstGeom prst="roundRect">
            <a:avLst>
              <a:gd name="adj" fmla="val 12000"/>
            </a:avLst>
          </a:prstGeom>
          <a:solidFill>
            <a:srgbClr val="EAF3FB"/>
          </a:solidFill>
          <a:ln>
            <a:noFill/>
          </a:ln>
          <a:effectLst/>
        </p:spPr>
        <p:txBody>
          <a:bodyPr rtlCol="0" anchor="ctr" wrap="square" tIns="27432" bIns="27432"/>
          <a:lstStyle/>
          <a:p>
            <a:pPr algn="l">
              <a:spcBef>
                <a:spcPts val="0"/>
              </a:spcBef>
              <a:spcAft>
                <a:spcPts val="0"/>
              </a:spcAft>
            </a:pPr>
            <a:r>
              <a:rPr sz="1100" b="0" i="0">
                <a:solidFill>
                  <a:srgbClr val="1B2733"/>
                </a:solidFill>
                <a:latin typeface="Arial"/>
              </a:rPr>
              <a:t>React Context + localStorage (actions persist)</a:t>
            </a:r>
          </a:p>
        </p:txBody>
      </p:sp>
      <p:sp>
        <p:nvSpPr>
          <p:cNvPr id="17423" name="Tech label 6"/>
          <p:cNvSpPr/>
          <p:nvPr/>
        </p:nvSpPr>
        <p:spPr>
          <a:xfrm>
            <a:off x="365760" y="4498848"/>
            <a:ext cx="1097280" cy="475488"/>
          </a:xfrm>
          <a:prstGeom prst="roundRect">
            <a:avLst>
              <a:gd name="adj" fmla="val 20000"/>
            </a:avLst>
          </a:prstGeom>
          <a:solidFill>
            <a:srgbClr val="0070C0"/>
          </a:solidFill>
          <a:ln>
            <a:noFill/>
          </a:ln>
          <a:effectLst/>
        </p:spPr>
        <p:txBody>
          <a:bodyPr rtlCol="0" anchor="ctr" wrap="square" lIns="36576" rIns="36576" tIns="27432" bIns="27432"/>
          <a:lstStyle/>
          <a:p>
            <a:pPr algn="ctr">
              <a:spcBef>
                <a:spcPts val="0"/>
              </a:spcBef>
              <a:spcAft>
                <a:spcPts val="0"/>
              </a:spcAft>
            </a:pPr>
            <a:r>
              <a:rPr sz="1100" b="1" i="0">
                <a:solidFill>
                  <a:srgbClr val="FFFFFF"/>
                </a:solidFill>
                <a:latin typeface="Arial"/>
              </a:rPr>
              <a:t>Algorithms</a:t>
            </a:r>
          </a:p>
        </p:txBody>
      </p:sp>
      <p:sp>
        <p:nvSpPr>
          <p:cNvPr id="17424" name="Tech value 6"/>
          <p:cNvSpPr/>
          <p:nvPr/>
        </p:nvSpPr>
        <p:spPr>
          <a:xfrm>
            <a:off x="1536192" y="4498848"/>
            <a:ext cx="3017520" cy="475488"/>
          </a:xfrm>
          <a:prstGeom prst="roundRect">
            <a:avLst>
              <a:gd name="adj" fmla="val 12000"/>
            </a:avLst>
          </a:prstGeom>
          <a:solidFill>
            <a:srgbClr val="EAF3FB"/>
          </a:solidFill>
          <a:ln>
            <a:noFill/>
          </a:ln>
          <a:effectLst/>
        </p:spPr>
        <p:txBody>
          <a:bodyPr rtlCol="0" anchor="ctr" wrap="square" tIns="27432" bIns="27432"/>
          <a:lstStyle/>
          <a:p>
            <a:pPr algn="l">
              <a:spcBef>
                <a:spcPts val="0"/>
              </a:spcBef>
              <a:spcAft>
                <a:spcPts val="0"/>
              </a:spcAft>
            </a:pPr>
            <a:r>
              <a:rPr sz="1100" b="0" i="0">
                <a:solidFill>
                  <a:srgbClr val="1B2733"/>
                </a:solidFill>
                <a:latin typeface="Arial"/>
              </a:rPr>
              <a:t>EWMA α=0.06 → z-score → CUSUM (k=1.1, h=5.5) + CSV parser</a:t>
            </a:r>
          </a:p>
        </p:txBody>
      </p:sp>
      <p:sp>
        <p:nvSpPr>
          <p:cNvPr id="17425" name="Tech label 7"/>
          <p:cNvSpPr/>
          <p:nvPr/>
        </p:nvSpPr>
        <p:spPr>
          <a:xfrm>
            <a:off x="365760" y="5047488"/>
            <a:ext cx="1097280" cy="475488"/>
          </a:xfrm>
          <a:prstGeom prst="roundRect">
            <a:avLst>
              <a:gd name="adj" fmla="val 20000"/>
            </a:avLst>
          </a:prstGeom>
          <a:solidFill>
            <a:srgbClr val="0070C0"/>
          </a:solidFill>
          <a:ln>
            <a:noFill/>
          </a:ln>
          <a:effectLst/>
        </p:spPr>
        <p:txBody>
          <a:bodyPr rtlCol="0" anchor="ctr" wrap="square" lIns="36576" rIns="36576" tIns="27432" bIns="27432"/>
          <a:lstStyle/>
          <a:p>
            <a:pPr algn="ctr">
              <a:spcBef>
                <a:spcPts val="0"/>
              </a:spcBef>
              <a:spcAft>
                <a:spcPts val="0"/>
              </a:spcAft>
            </a:pPr>
            <a:r>
              <a:rPr sz="1100" b="1" i="0">
                <a:solidFill>
                  <a:srgbClr val="FFFFFF"/>
                </a:solidFill>
                <a:latin typeface="Arial"/>
              </a:rPr>
              <a:t>Hosting</a:t>
            </a:r>
          </a:p>
        </p:txBody>
      </p:sp>
      <p:sp>
        <p:nvSpPr>
          <p:cNvPr id="17426" name="Tech value 7"/>
          <p:cNvSpPr/>
          <p:nvPr/>
        </p:nvSpPr>
        <p:spPr>
          <a:xfrm>
            <a:off x="1536192" y="5047488"/>
            <a:ext cx="3017520" cy="475488"/>
          </a:xfrm>
          <a:prstGeom prst="roundRect">
            <a:avLst>
              <a:gd name="adj" fmla="val 12000"/>
            </a:avLst>
          </a:prstGeom>
          <a:solidFill>
            <a:srgbClr val="EAF3FB"/>
          </a:solidFill>
          <a:ln>
            <a:noFill/>
          </a:ln>
          <a:effectLst/>
        </p:spPr>
        <p:txBody>
          <a:bodyPr rtlCol="0" anchor="ctr" wrap="square" tIns="27432" bIns="27432"/>
          <a:lstStyle/>
          <a:p>
            <a:pPr algn="l">
              <a:spcBef>
                <a:spcPts val="0"/>
              </a:spcBef>
              <a:spcAft>
                <a:spcPts val="0"/>
              </a:spcAft>
            </a:pPr>
            <a:r>
              <a:rPr sz="1100" b="0" i="0">
                <a:solidFill>
                  <a:srgbClr val="1B2733"/>
                </a:solidFill>
                <a:latin typeface="Arial"/>
              </a:rPr>
              <a:t>Vercel, Git push = auto-deploy</a:t>
            </a:r>
          </a:p>
        </p:txBody>
      </p:sp>
      <p:sp>
        <p:nvSpPr>
          <p:cNvPr id="17427" name="Tech label 8"/>
          <p:cNvSpPr/>
          <p:nvPr/>
        </p:nvSpPr>
        <p:spPr>
          <a:xfrm>
            <a:off x="365760" y="5596128"/>
            <a:ext cx="1097280" cy="475488"/>
          </a:xfrm>
          <a:prstGeom prst="roundRect">
            <a:avLst>
              <a:gd name="adj" fmla="val 20000"/>
            </a:avLst>
          </a:prstGeom>
          <a:solidFill>
            <a:srgbClr val="0070C0"/>
          </a:solidFill>
          <a:ln>
            <a:noFill/>
          </a:ln>
          <a:effectLst/>
        </p:spPr>
        <p:txBody>
          <a:bodyPr rtlCol="0" anchor="ctr" wrap="square" lIns="36576" rIns="36576" tIns="27432" bIns="27432"/>
          <a:lstStyle/>
          <a:p>
            <a:pPr algn="ctr">
              <a:spcBef>
                <a:spcPts val="0"/>
              </a:spcBef>
              <a:spcAft>
                <a:spcPts val="0"/>
              </a:spcAft>
            </a:pPr>
            <a:r>
              <a:rPr sz="1100" b="1" i="0">
                <a:solidFill>
                  <a:srgbClr val="FFFFFF"/>
                </a:solidFill>
                <a:latin typeface="Arial"/>
              </a:rPr>
              <a:t>Hardware</a:t>
            </a:r>
          </a:p>
        </p:txBody>
      </p:sp>
      <p:sp>
        <p:nvSpPr>
          <p:cNvPr id="17428" name="Tech value 8"/>
          <p:cNvSpPr/>
          <p:nvPr/>
        </p:nvSpPr>
        <p:spPr>
          <a:xfrm>
            <a:off x="1536192" y="5596128"/>
            <a:ext cx="3017520" cy="475488"/>
          </a:xfrm>
          <a:prstGeom prst="roundRect">
            <a:avLst>
              <a:gd name="adj" fmla="val 12000"/>
            </a:avLst>
          </a:prstGeom>
          <a:solidFill>
            <a:srgbClr val="EAF3FB"/>
          </a:solidFill>
          <a:ln>
            <a:noFill/>
          </a:ln>
          <a:effectLst/>
        </p:spPr>
        <p:txBody>
          <a:bodyPr rtlCol="0" anchor="ctr" wrap="square" tIns="27432" bIns="27432"/>
          <a:lstStyle/>
          <a:p>
            <a:pPr algn="l">
              <a:spcBef>
                <a:spcPts val="0"/>
              </a:spcBef>
              <a:spcAft>
                <a:spcPts val="0"/>
              </a:spcAft>
            </a:pPr>
            <a:r>
              <a:rPr sz="1100" b="0" i="0">
                <a:solidFill>
                  <a:srgbClr val="1B2733"/>
                </a:solidFill>
                <a:latin typeface="Arial"/>
              </a:rPr>
              <a:t>None – software-only, runs in any browser or tablet</a:t>
            </a:r>
          </a:p>
        </p:txBody>
      </p:sp>
      <p:sp>
        <p:nvSpPr>
          <p:cNvPr id="17429" name="Rectangle 17428"/>
          <p:cNvSpPr/>
          <p:nvPr/>
        </p:nvSpPr>
        <p:spPr>
          <a:xfrm>
            <a:off x="4846320" y="1234440"/>
            <a:ext cx="137160" cy="137160"/>
          </a:xfrm>
          <a:prstGeom prst="rect">
            <a:avLst/>
          </a:prstGeom>
          <a:solidFill>
            <a:srgbClr val="0070C0"/>
          </a:solidFill>
          <a:ln>
            <a:noFill/>
          </a:ln>
          <a:effectLst/>
        </p:spPr>
        <p:txBody>
          <a:bodyPr rtlCol="0" anchor="t" wrap="square" lIns="54864" rIns="54864" tIns="27432" bIns="27432"/>
          <a:lstStyle/>
          <a:p>
            <a:pPr algn="l">
              <a:spcBef>
                <a:spcPts val="0"/>
              </a:spcBef>
              <a:spcAft>
                <a:spcPts val="0"/>
              </a:spcAft>
            </a:pPr>
            <a:r>
              <a:rPr sz="1200" b="0" i="0">
                <a:solidFill>
                  <a:srgbClr val="1B2733"/>
                </a:solidFill>
                <a:latin typeface="Arial"/>
              </a:rPr>
              <a:t/>
            </a:r>
          </a:p>
        </p:txBody>
      </p:sp>
      <p:sp>
        <p:nvSpPr>
          <p:cNvPr id="17430" name="Rectangle 17429"/>
          <p:cNvSpPr/>
          <p:nvPr/>
        </p:nvSpPr>
        <p:spPr>
          <a:xfrm>
            <a:off x="5047488" y="1170432"/>
            <a:ext cx="6748272" cy="274320"/>
          </a:xfrm>
          <a:prstGeom prst="rect">
            <a:avLst/>
          </a:prstGeom>
          <a:noFill/>
          <a:ln>
            <a:noFill/>
          </a:ln>
          <a:effectLst/>
        </p:spPr>
        <p:txBody>
          <a:bodyPr rtlCol="0" anchor="ctr" wrap="square" lIns="0" rIns="0" tIns="27432" bIns="27432"/>
          <a:lstStyle/>
          <a:p>
            <a:pPr algn="l">
              <a:spcBef>
                <a:spcPts val="0"/>
              </a:spcBef>
              <a:spcAft>
                <a:spcPts val="0"/>
              </a:spcAft>
            </a:pPr>
            <a:r>
              <a:rPr sz="1400" b="1" i="0">
                <a:solidFill>
                  <a:srgbClr val="0B2A4A"/>
                </a:solidFill>
                <a:latin typeface="Arial"/>
              </a:rPr>
              <a:t>Methodology and process for implementation</a:t>
            </a:r>
          </a:p>
        </p:txBody>
      </p:sp>
      <p:sp>
        <p:nvSpPr>
          <p:cNvPr id="17431" name="Rectangle 17430"/>
          <p:cNvSpPr/>
          <p:nvPr/>
        </p:nvSpPr>
        <p:spPr>
          <a:xfrm>
            <a:off x="5047488" y="1444752"/>
            <a:ext cx="6766560" cy="256032"/>
          </a:xfrm>
          <a:prstGeom prst="rect">
            <a:avLst/>
          </a:prstGeom>
          <a:noFill/>
          <a:ln>
            <a:noFill/>
          </a:ln>
          <a:effectLst/>
        </p:spPr>
        <p:txBody>
          <a:bodyPr rtlCol="0" anchor="t" wrap="square" lIns="0" rIns="0" tIns="27432" bIns="27432"/>
          <a:lstStyle/>
          <a:p>
            <a:pPr algn="l">
              <a:spcBef>
                <a:spcPts val="0"/>
              </a:spcBef>
              <a:spcAft>
                <a:spcPts val="0"/>
              </a:spcAft>
            </a:pPr>
            <a:r>
              <a:rPr sz="1050" b="0" i="0">
                <a:solidFill>
                  <a:srgbClr val="5A6B7B"/>
                </a:solidFill>
                <a:latin typeface="Arial"/>
              </a:rPr>
              <a:t>(5-layer architecture with an honest real-vs-simulated status)</a:t>
            </a:r>
          </a:p>
        </p:txBody>
      </p:sp>
      <p:sp>
        <p:nvSpPr>
          <p:cNvPr id="17432" name="Layer 1"/>
          <p:cNvSpPr/>
          <p:nvPr/>
        </p:nvSpPr>
        <p:spPr>
          <a:xfrm>
            <a:off x="4846320" y="1755648"/>
            <a:ext cx="1600200" cy="548640"/>
          </a:xfrm>
          <a:prstGeom prst="roundRect">
            <a:avLst>
              <a:gd name="adj" fmla="val 12000"/>
            </a:avLst>
          </a:prstGeom>
          <a:solidFill>
            <a:srgbClr val="0B2A4A"/>
          </a:solidFill>
          <a:ln>
            <a:noFill/>
          </a:ln>
          <a:effectLst/>
        </p:spPr>
        <p:txBody>
          <a:bodyPr rtlCol="0" anchor="ctr" wrap="square" tIns="27432" bIns="27432"/>
          <a:lstStyle/>
          <a:p>
            <a:pPr algn="l">
              <a:spcBef>
                <a:spcPts val="0"/>
              </a:spcBef>
              <a:spcAft>
                <a:spcPts val="0"/>
              </a:spcAft>
            </a:pPr>
            <a:r>
              <a:rPr sz="1150" b="1" i="0">
                <a:solidFill>
                  <a:srgbClr val="FFFFFF"/>
                </a:solidFill>
                <a:latin typeface="Arial"/>
              </a:rPr>
              <a:t>1  DATA</a:t>
            </a:r>
          </a:p>
        </p:txBody>
      </p:sp>
      <p:sp>
        <p:nvSpPr>
          <p:cNvPr id="17433" name="Layer 1 detail"/>
          <p:cNvSpPr/>
          <p:nvPr/>
        </p:nvSpPr>
        <p:spPr>
          <a:xfrm>
            <a:off x="6492240" y="1755648"/>
            <a:ext cx="3977639" cy="548640"/>
          </a:xfrm>
          <a:prstGeom prst="rect">
            <a:avLst/>
          </a:prstGeom>
          <a:solidFill>
            <a:srgbClr val="EAF3FB"/>
          </a:solidFill>
          <a:ln>
            <a:noFill/>
          </a:ln>
          <a:effectLst/>
        </p:spPr>
        <p:txBody>
          <a:bodyPr rtlCol="0" anchor="ctr" wrap="square" tIns="27432" bIns="27432"/>
          <a:lstStyle/>
          <a:p>
            <a:pPr algn="l">
              <a:spcBef>
                <a:spcPts val="0"/>
              </a:spcBef>
              <a:spcAft>
                <a:spcPts val="0"/>
              </a:spcAft>
            </a:pPr>
            <a:r>
              <a:rPr sz="1050" b="0" i="0">
                <a:solidFill>
                  <a:srgbClr val="1B2733"/>
                </a:solidFill>
                <a:latin typeface="Arial"/>
              </a:rPr>
              <a:t>20 airframes · 340 channels · 5 feeds (ACMS/MQTT, logbook, ERP, depot)</a:t>
            </a:r>
          </a:p>
        </p:txBody>
      </p:sp>
      <p:sp>
        <p:nvSpPr>
          <p:cNvPr id="17434" name="Layer 1 status"/>
          <p:cNvSpPr/>
          <p:nvPr/>
        </p:nvSpPr>
        <p:spPr>
          <a:xfrm>
            <a:off x="10515600" y="1755648"/>
            <a:ext cx="1307592" cy="548640"/>
          </a:xfrm>
          <a:prstGeom prst="roundRect">
            <a:avLst>
              <a:gd name="adj" fmla="val 20000"/>
            </a:avLst>
          </a:prstGeom>
          <a:solidFill>
            <a:srgbClr val="FDF1E0"/>
          </a:solidFill>
          <a:ln w="9525">
            <a:solidFill>
              <a:srgbClr val="E8890C"/>
            </a:solidFill>
          </a:ln>
          <a:effectLst/>
        </p:spPr>
        <p:txBody>
          <a:bodyPr rtlCol="0" anchor="ctr" wrap="square" lIns="36576" rIns="36576" tIns="27432" bIns="27432"/>
          <a:lstStyle/>
          <a:p>
            <a:pPr algn="ctr">
              <a:spcBef>
                <a:spcPts val="0"/>
              </a:spcBef>
              <a:spcAft>
                <a:spcPts val="0"/>
              </a:spcAft>
            </a:pPr>
            <a:r>
              <a:rPr sz="950" b="1" i="0">
                <a:solidFill>
                  <a:srgbClr val="E8890C"/>
                </a:solidFill>
                <a:latin typeface="Arial"/>
              </a:rPr>
              <a:t>SIMULATED + CSV IMPORT</a:t>
            </a:r>
          </a:p>
        </p:txBody>
      </p:sp>
      <p:sp>
        <p:nvSpPr>
          <p:cNvPr id="17435" name="Layer 2"/>
          <p:cNvSpPr/>
          <p:nvPr/>
        </p:nvSpPr>
        <p:spPr>
          <a:xfrm>
            <a:off x="4846320" y="2377440"/>
            <a:ext cx="1600200" cy="548640"/>
          </a:xfrm>
          <a:prstGeom prst="roundRect">
            <a:avLst>
              <a:gd name="adj" fmla="val 12000"/>
            </a:avLst>
          </a:prstGeom>
          <a:solidFill>
            <a:srgbClr val="0B2A4A"/>
          </a:solidFill>
          <a:ln>
            <a:noFill/>
          </a:ln>
          <a:effectLst/>
        </p:spPr>
        <p:txBody>
          <a:bodyPr rtlCol="0" anchor="ctr" wrap="square" tIns="27432" bIns="27432"/>
          <a:lstStyle/>
          <a:p>
            <a:pPr algn="l">
              <a:spcBef>
                <a:spcPts val="0"/>
              </a:spcBef>
              <a:spcAft>
                <a:spcPts val="0"/>
              </a:spcAft>
            </a:pPr>
            <a:r>
              <a:rPr sz="1150" b="1" i="0">
                <a:solidFill>
                  <a:srgbClr val="FFFFFF"/>
                </a:solidFill>
                <a:latin typeface="Arial"/>
              </a:rPr>
              <a:t>2  DETECTION</a:t>
            </a:r>
          </a:p>
        </p:txBody>
      </p:sp>
      <p:sp>
        <p:nvSpPr>
          <p:cNvPr id="17436" name="Layer 2 detail"/>
          <p:cNvSpPr/>
          <p:nvPr/>
        </p:nvSpPr>
        <p:spPr>
          <a:xfrm>
            <a:off x="6492240" y="2377440"/>
            <a:ext cx="3977639" cy="548640"/>
          </a:xfrm>
          <a:prstGeom prst="rect">
            <a:avLst/>
          </a:prstGeom>
          <a:solidFill>
            <a:srgbClr val="EAF3FB"/>
          </a:solidFill>
          <a:ln>
            <a:noFill/>
          </a:ln>
          <a:effectLst/>
        </p:spPr>
        <p:txBody>
          <a:bodyPr rtlCol="0" anchor="ctr" wrap="square" tIns="27432" bIns="27432"/>
          <a:lstStyle/>
          <a:p>
            <a:pPr algn="l">
              <a:spcBef>
                <a:spcPts val="0"/>
              </a:spcBef>
              <a:spcAft>
                <a:spcPts val="0"/>
              </a:spcAft>
            </a:pPr>
            <a:r>
              <a:rPr sz="1050" b="0" i="0">
                <a:solidFill>
                  <a:srgbClr val="1B2733"/>
                </a:solidFill>
                <a:latin typeface="Arial"/>
              </a:rPr>
              <a:t>Online EWMA → z-score → CUSUM per channel; live anomaly banner</a:t>
            </a:r>
          </a:p>
        </p:txBody>
      </p:sp>
      <p:sp>
        <p:nvSpPr>
          <p:cNvPr id="17437" name="Layer 2 status"/>
          <p:cNvSpPr/>
          <p:nvPr/>
        </p:nvSpPr>
        <p:spPr>
          <a:xfrm>
            <a:off x="10515600" y="2377440"/>
            <a:ext cx="1307592" cy="548640"/>
          </a:xfrm>
          <a:prstGeom prst="roundRect">
            <a:avLst>
              <a:gd name="adj" fmla="val 20000"/>
            </a:avLst>
          </a:prstGeom>
          <a:solidFill>
            <a:srgbClr val="E4F4EC"/>
          </a:solidFill>
          <a:ln w="9525">
            <a:solidFill>
              <a:srgbClr val="1E8E5A"/>
            </a:solidFill>
          </a:ln>
          <a:effectLst/>
        </p:spPr>
        <p:txBody>
          <a:bodyPr rtlCol="0" anchor="ctr" wrap="square" lIns="36576" rIns="36576" tIns="27432" bIns="27432"/>
          <a:lstStyle/>
          <a:p>
            <a:pPr algn="ctr">
              <a:spcBef>
                <a:spcPts val="0"/>
              </a:spcBef>
              <a:spcAft>
                <a:spcPts val="0"/>
              </a:spcAft>
            </a:pPr>
            <a:r>
              <a:rPr sz="950" b="1" i="0">
                <a:solidFill>
                  <a:srgbClr val="1E8E5A"/>
                </a:solidFill>
                <a:latin typeface="Arial"/>
              </a:rPr>
              <a:t>REAL</a:t>
            </a:r>
          </a:p>
        </p:txBody>
      </p:sp>
      <p:sp>
        <p:nvSpPr>
          <p:cNvPr id="17438" name="Layer 3"/>
          <p:cNvSpPr/>
          <p:nvPr/>
        </p:nvSpPr>
        <p:spPr>
          <a:xfrm>
            <a:off x="4846320" y="2999232"/>
            <a:ext cx="1600200" cy="548640"/>
          </a:xfrm>
          <a:prstGeom prst="roundRect">
            <a:avLst>
              <a:gd name="adj" fmla="val 12000"/>
            </a:avLst>
          </a:prstGeom>
          <a:solidFill>
            <a:srgbClr val="0B2A4A"/>
          </a:solidFill>
          <a:ln>
            <a:noFill/>
          </a:ln>
          <a:effectLst/>
        </p:spPr>
        <p:txBody>
          <a:bodyPr rtlCol="0" anchor="ctr" wrap="square" tIns="27432" bIns="27432"/>
          <a:lstStyle/>
          <a:p>
            <a:pPr algn="l">
              <a:spcBef>
                <a:spcPts val="0"/>
              </a:spcBef>
              <a:spcAft>
                <a:spcPts val="0"/>
              </a:spcAft>
            </a:pPr>
            <a:r>
              <a:rPr sz="1150" b="1" i="0">
                <a:solidFill>
                  <a:srgbClr val="FFFFFF"/>
                </a:solidFill>
                <a:latin typeface="Arial"/>
              </a:rPr>
              <a:t>3  PREDICTION</a:t>
            </a:r>
          </a:p>
        </p:txBody>
      </p:sp>
      <p:sp>
        <p:nvSpPr>
          <p:cNvPr id="17439" name="Layer 3 detail"/>
          <p:cNvSpPr/>
          <p:nvPr/>
        </p:nvSpPr>
        <p:spPr>
          <a:xfrm>
            <a:off x="6492240" y="2999232"/>
            <a:ext cx="3977639" cy="548640"/>
          </a:xfrm>
          <a:prstGeom prst="rect">
            <a:avLst/>
          </a:prstGeom>
          <a:solidFill>
            <a:srgbClr val="EAF3FB"/>
          </a:solidFill>
          <a:ln>
            <a:noFill/>
          </a:ln>
          <a:effectLst/>
        </p:spPr>
        <p:txBody>
          <a:bodyPr rtlCol="0" anchor="ctr" wrap="square" tIns="27432" bIns="27432"/>
          <a:lstStyle/>
          <a:p>
            <a:pPr algn="l">
              <a:spcBef>
                <a:spcPts val="0"/>
              </a:spcBef>
              <a:spcAft>
                <a:spcPts val="0"/>
              </a:spcAft>
            </a:pPr>
            <a:r>
              <a:rPr sz="1050" b="0" i="0">
                <a:solidFill>
                  <a:srgbClr val="1B2733"/>
                </a:solidFill>
                <a:latin typeface="Arial"/>
              </a:rPr>
              <a:t>RUL, confidence, severity, drivers; GBM · Isolation Forest · Autoencoder · Weibull path</a:t>
            </a:r>
          </a:p>
        </p:txBody>
      </p:sp>
      <p:sp>
        <p:nvSpPr>
          <p:cNvPr id="17440" name="Layer 3 status"/>
          <p:cNvSpPr/>
          <p:nvPr/>
        </p:nvSpPr>
        <p:spPr>
          <a:xfrm>
            <a:off x="10515600" y="2999232"/>
            <a:ext cx="1307592" cy="548640"/>
          </a:xfrm>
          <a:prstGeom prst="roundRect">
            <a:avLst>
              <a:gd name="adj" fmla="val 20000"/>
            </a:avLst>
          </a:prstGeom>
          <a:solidFill>
            <a:srgbClr val="FDF1E0"/>
          </a:solidFill>
          <a:ln w="9525">
            <a:solidFill>
              <a:srgbClr val="E8890C"/>
            </a:solidFill>
          </a:ln>
          <a:effectLst/>
        </p:spPr>
        <p:txBody>
          <a:bodyPr rtlCol="0" anchor="ctr" wrap="square" lIns="36576" rIns="36576" tIns="27432" bIns="27432"/>
          <a:lstStyle/>
          <a:p>
            <a:pPr algn="ctr">
              <a:spcBef>
                <a:spcPts val="0"/>
              </a:spcBef>
              <a:spcAft>
                <a:spcPts val="0"/>
              </a:spcAft>
            </a:pPr>
            <a:r>
              <a:rPr sz="950" b="1" i="0">
                <a:solidFill>
                  <a:srgbClr val="E8890C"/>
                </a:solidFill>
                <a:latin typeface="Arial"/>
              </a:rPr>
              <a:t>TEMPLATED RUL</a:t>
            </a:r>
          </a:p>
        </p:txBody>
      </p:sp>
      <p:sp>
        <p:nvSpPr>
          <p:cNvPr id="17441" name="Layer 4"/>
          <p:cNvSpPr/>
          <p:nvPr/>
        </p:nvSpPr>
        <p:spPr>
          <a:xfrm>
            <a:off x="4846320" y="3621024"/>
            <a:ext cx="1600200" cy="548640"/>
          </a:xfrm>
          <a:prstGeom prst="roundRect">
            <a:avLst>
              <a:gd name="adj" fmla="val 12000"/>
            </a:avLst>
          </a:prstGeom>
          <a:solidFill>
            <a:srgbClr val="0B2A4A"/>
          </a:solidFill>
          <a:ln>
            <a:noFill/>
          </a:ln>
          <a:effectLst/>
        </p:spPr>
        <p:txBody>
          <a:bodyPr rtlCol="0" anchor="ctr" wrap="square" tIns="27432" bIns="27432"/>
          <a:lstStyle/>
          <a:p>
            <a:pPr algn="l">
              <a:spcBef>
                <a:spcPts val="0"/>
              </a:spcBef>
              <a:spcAft>
                <a:spcPts val="0"/>
              </a:spcAft>
            </a:pPr>
            <a:r>
              <a:rPr sz="1150" b="1" i="0">
                <a:solidFill>
                  <a:srgbClr val="FFFFFF"/>
                </a:solidFill>
                <a:latin typeface="Arial"/>
              </a:rPr>
              <a:t>4  ACTION</a:t>
            </a:r>
          </a:p>
        </p:txBody>
      </p:sp>
      <p:sp>
        <p:nvSpPr>
          <p:cNvPr id="17442" name="Layer 4 detail"/>
          <p:cNvSpPr/>
          <p:nvPr/>
        </p:nvSpPr>
        <p:spPr>
          <a:xfrm>
            <a:off x="6492240" y="3621024"/>
            <a:ext cx="3977639" cy="548640"/>
          </a:xfrm>
          <a:prstGeom prst="rect">
            <a:avLst/>
          </a:prstGeom>
          <a:solidFill>
            <a:srgbClr val="EAF3FB"/>
          </a:solidFill>
          <a:ln>
            <a:noFill/>
          </a:ln>
          <a:effectLst/>
        </p:spPr>
        <p:txBody>
          <a:bodyPr rtlCol="0" anchor="ctr" wrap="square" tIns="27432" bIns="27432"/>
          <a:lstStyle/>
          <a:p>
            <a:pPr algn="l">
              <a:spcBef>
                <a:spcPts val="0"/>
              </a:spcBef>
              <a:spcAft>
                <a:spcPts val="0"/>
              </a:spcAft>
            </a:pPr>
            <a:r>
              <a:rPr sz="1050" b="0" i="0">
                <a:solidFill>
                  <a:srgbClr val="1B2733"/>
                </a:solidFill>
                <a:latin typeface="Arial"/>
              </a:rPr>
              <a:t>Acknowledge · raise work order · indent spare → shared state + audit log</a:t>
            </a:r>
          </a:p>
        </p:txBody>
      </p:sp>
      <p:sp>
        <p:nvSpPr>
          <p:cNvPr id="17443" name="Layer 4 status"/>
          <p:cNvSpPr/>
          <p:nvPr/>
        </p:nvSpPr>
        <p:spPr>
          <a:xfrm>
            <a:off x="10515600" y="3621024"/>
            <a:ext cx="1307592" cy="548640"/>
          </a:xfrm>
          <a:prstGeom prst="roundRect">
            <a:avLst>
              <a:gd name="adj" fmla="val 20000"/>
            </a:avLst>
          </a:prstGeom>
          <a:solidFill>
            <a:srgbClr val="E4F4EC"/>
          </a:solidFill>
          <a:ln w="9525">
            <a:solidFill>
              <a:srgbClr val="1E8E5A"/>
            </a:solidFill>
          </a:ln>
          <a:effectLst/>
        </p:spPr>
        <p:txBody>
          <a:bodyPr rtlCol="0" anchor="ctr" wrap="square" lIns="36576" rIns="36576" tIns="27432" bIns="27432"/>
          <a:lstStyle/>
          <a:p>
            <a:pPr algn="ctr">
              <a:spcBef>
                <a:spcPts val="0"/>
              </a:spcBef>
              <a:spcAft>
                <a:spcPts val="0"/>
              </a:spcAft>
            </a:pPr>
            <a:r>
              <a:rPr sz="950" b="1" i="0">
                <a:solidFill>
                  <a:srgbClr val="1E8E5A"/>
                </a:solidFill>
                <a:latin typeface="Arial"/>
              </a:rPr>
              <a:t>REAL</a:t>
            </a:r>
          </a:p>
        </p:txBody>
      </p:sp>
      <p:sp>
        <p:nvSpPr>
          <p:cNvPr id="17444" name="Layer 5"/>
          <p:cNvSpPr/>
          <p:nvPr/>
        </p:nvSpPr>
        <p:spPr>
          <a:xfrm>
            <a:off x="4846320" y="4242816"/>
            <a:ext cx="1600200" cy="548640"/>
          </a:xfrm>
          <a:prstGeom prst="roundRect">
            <a:avLst>
              <a:gd name="adj" fmla="val 12000"/>
            </a:avLst>
          </a:prstGeom>
          <a:solidFill>
            <a:srgbClr val="0B2A4A"/>
          </a:solidFill>
          <a:ln>
            <a:noFill/>
          </a:ln>
          <a:effectLst/>
        </p:spPr>
        <p:txBody>
          <a:bodyPr rtlCol="0" anchor="ctr" wrap="square" tIns="27432" bIns="27432"/>
          <a:lstStyle/>
          <a:p>
            <a:pPr algn="l">
              <a:spcBef>
                <a:spcPts val="0"/>
              </a:spcBef>
              <a:spcAft>
                <a:spcPts val="0"/>
              </a:spcAft>
            </a:pPr>
            <a:r>
              <a:rPr sz="1150" b="1" i="0">
                <a:solidFill>
                  <a:srgbClr val="FFFFFF"/>
                </a:solidFill>
                <a:latin typeface="Arial"/>
              </a:rPr>
              <a:t>5  PRESENTATION</a:t>
            </a:r>
          </a:p>
        </p:txBody>
      </p:sp>
      <p:sp>
        <p:nvSpPr>
          <p:cNvPr id="17445" name="Layer 5 detail"/>
          <p:cNvSpPr/>
          <p:nvPr/>
        </p:nvSpPr>
        <p:spPr>
          <a:xfrm>
            <a:off x="6492240" y="4242816"/>
            <a:ext cx="3977639" cy="548640"/>
          </a:xfrm>
          <a:prstGeom prst="rect">
            <a:avLst/>
          </a:prstGeom>
          <a:solidFill>
            <a:srgbClr val="EAF3FB"/>
          </a:solidFill>
          <a:ln>
            <a:noFill/>
          </a:ln>
          <a:effectLst/>
        </p:spPr>
        <p:txBody>
          <a:bodyPr rtlCol="0" anchor="ctr" wrap="square" tIns="27432" bIns="27432"/>
          <a:lstStyle/>
          <a:p>
            <a:pPr algn="l">
              <a:spcBef>
                <a:spcPts val="0"/>
              </a:spcBef>
              <a:spcAft>
                <a:spcPts val="0"/>
              </a:spcAft>
            </a:pPr>
            <a:r>
              <a:rPr sz="1050" b="0" i="0">
                <a:solidFill>
                  <a:srgbClr val="1B2733"/>
                </a:solidFill>
                <a:latin typeface="Arial"/>
              </a:rPr>
              <a:t>8 pages · SVG charts · digital-twin replica · responsive shell</a:t>
            </a:r>
          </a:p>
        </p:txBody>
      </p:sp>
      <p:sp>
        <p:nvSpPr>
          <p:cNvPr id="17446" name="Layer 5 status"/>
          <p:cNvSpPr/>
          <p:nvPr/>
        </p:nvSpPr>
        <p:spPr>
          <a:xfrm>
            <a:off x="10515600" y="4242816"/>
            <a:ext cx="1307592" cy="548640"/>
          </a:xfrm>
          <a:prstGeom prst="roundRect">
            <a:avLst>
              <a:gd name="adj" fmla="val 20000"/>
            </a:avLst>
          </a:prstGeom>
          <a:solidFill>
            <a:srgbClr val="E4F4EC"/>
          </a:solidFill>
          <a:ln w="9525">
            <a:solidFill>
              <a:srgbClr val="1E8E5A"/>
            </a:solidFill>
          </a:ln>
          <a:effectLst/>
        </p:spPr>
        <p:txBody>
          <a:bodyPr rtlCol="0" anchor="ctr" wrap="square" lIns="36576" rIns="36576" tIns="27432" bIns="27432"/>
          <a:lstStyle/>
          <a:p>
            <a:pPr algn="ctr">
              <a:spcBef>
                <a:spcPts val="0"/>
              </a:spcBef>
              <a:spcAft>
                <a:spcPts val="0"/>
              </a:spcAft>
            </a:pPr>
            <a:r>
              <a:rPr sz="950" b="1" i="0">
                <a:solidFill>
                  <a:srgbClr val="1E8E5A"/>
                </a:solidFill>
                <a:latin typeface="Arial"/>
              </a:rPr>
              <a:t>REAL</a:t>
            </a:r>
          </a:p>
        </p:txBody>
      </p:sp>
      <p:sp>
        <p:nvSpPr>
          <p:cNvPr id="17447" name="Rectangle 17446"/>
          <p:cNvSpPr/>
          <p:nvPr/>
        </p:nvSpPr>
        <p:spPr>
          <a:xfrm>
            <a:off x="4846320" y="4919472"/>
            <a:ext cx="6949440" cy="256032"/>
          </a:xfrm>
          <a:prstGeom prst="rect">
            <a:avLst/>
          </a:prstGeom>
          <a:noFill/>
          <a:ln>
            <a:noFill/>
          </a:ln>
          <a:effectLst/>
        </p:spPr>
        <p:txBody>
          <a:bodyPr rtlCol="0" anchor="t" wrap="square" lIns="0" rIns="0" tIns="27432" bIns="27432"/>
          <a:lstStyle/>
          <a:p>
            <a:pPr algn="l">
              <a:spcBef>
                <a:spcPts val="0"/>
              </a:spcBef>
              <a:spcAft>
                <a:spcPts val="0"/>
              </a:spcAft>
            </a:pPr>
            <a:r>
              <a:rPr sz="1200" b="1" i="0">
                <a:solidFill>
                  <a:srgbClr val="0B2A4A"/>
                </a:solidFill>
                <a:latin typeface="Arial"/>
              </a:rPr>
              <a:t>7-step data flow</a:t>
            </a:r>
            <a:r>
              <a:rPr sz="1050" b="0" i="0">
                <a:solidFill>
                  <a:srgbClr val="5A6B7B"/>
                </a:solidFill>
                <a:latin typeface="Arial"/>
              </a:rPr>
              <a:t>   sensor ticks to availability</a:t>
            </a:r>
          </a:p>
        </p:txBody>
      </p:sp>
      <p:sp>
        <p:nvSpPr>
          <p:cNvPr id="17448" name="Step 1"/>
          <p:cNvSpPr/>
          <p:nvPr/>
        </p:nvSpPr>
        <p:spPr>
          <a:xfrm>
            <a:off x="4846320" y="5212080"/>
            <a:ext cx="978408" cy="457200"/>
          </a:xfrm>
          <a:prstGeom prst="homePlate">
            <a:avLst/>
          </a:prstGeom>
          <a:solidFill>
            <a:srgbClr val="0070C0"/>
          </a:solidFill>
          <a:ln>
            <a:noFill/>
          </a:ln>
          <a:effectLst/>
        </p:spPr>
        <p:txBody>
          <a:bodyPr rtlCol="0" anchor="ctr" wrap="square" lIns="27432" rIns="27432" tIns="27432" bIns="27432"/>
          <a:lstStyle/>
          <a:p>
            <a:pPr algn="ctr">
              <a:spcBef>
                <a:spcPts val="0"/>
              </a:spcBef>
              <a:spcAft>
                <a:spcPts val="0"/>
              </a:spcAft>
            </a:pPr>
            <a:r>
              <a:rPr sz="1050" b="1" i="0">
                <a:solidFill>
                  <a:srgbClr val="FFFFFF"/>
                </a:solidFill>
                <a:latin typeface="Arial"/>
              </a:rPr>
              <a:t>1 Ingest</a:t>
            </a:r>
          </a:p>
        </p:txBody>
      </p:sp>
      <p:sp>
        <p:nvSpPr>
          <p:cNvPr id="17449" name="Step 1 caption"/>
          <p:cNvSpPr/>
          <p:nvPr/>
        </p:nvSpPr>
        <p:spPr>
          <a:xfrm>
            <a:off x="4846320" y="5687568"/>
            <a:ext cx="978408" cy="274320"/>
          </a:xfrm>
          <a:prstGeom prst="rect">
            <a:avLst/>
          </a:prstGeom>
          <a:noFill/>
          <a:ln>
            <a:noFill/>
          </a:ln>
          <a:effectLst/>
        </p:spPr>
        <p:txBody>
          <a:bodyPr rtlCol="0" anchor="t" wrap="square" lIns="0" rIns="0" tIns="27432" bIns="27432"/>
          <a:lstStyle/>
          <a:p>
            <a:pPr algn="ctr">
              <a:spcBef>
                <a:spcPts val="0"/>
              </a:spcBef>
              <a:spcAft>
                <a:spcPts val="0"/>
              </a:spcAft>
            </a:pPr>
            <a:r>
              <a:rPr sz="950" b="0" i="0">
                <a:solidFill>
                  <a:srgbClr val="5A6B7B"/>
                </a:solidFill>
                <a:latin typeface="Arial"/>
              </a:rPr>
              <a:t>2 s ticks</a:t>
            </a:r>
          </a:p>
        </p:txBody>
      </p:sp>
      <p:sp>
        <p:nvSpPr>
          <p:cNvPr id="17450" name="Step 2"/>
          <p:cNvSpPr/>
          <p:nvPr/>
        </p:nvSpPr>
        <p:spPr>
          <a:xfrm>
            <a:off x="5843016" y="5212080"/>
            <a:ext cx="978408" cy="457200"/>
          </a:xfrm>
          <a:prstGeom prst="homePlate">
            <a:avLst/>
          </a:prstGeom>
          <a:solidFill>
            <a:srgbClr val="0070C0"/>
          </a:solidFill>
          <a:ln>
            <a:noFill/>
          </a:ln>
          <a:effectLst/>
        </p:spPr>
        <p:txBody>
          <a:bodyPr rtlCol="0" anchor="ctr" wrap="square" lIns="27432" rIns="27432" tIns="27432" bIns="27432"/>
          <a:lstStyle/>
          <a:p>
            <a:pPr algn="ctr">
              <a:spcBef>
                <a:spcPts val="0"/>
              </a:spcBef>
              <a:spcAft>
                <a:spcPts val="0"/>
              </a:spcAft>
            </a:pPr>
            <a:r>
              <a:rPr sz="1050" b="1" i="0">
                <a:solidFill>
                  <a:srgbClr val="FFFFFF"/>
                </a:solidFill>
                <a:latin typeface="Arial"/>
              </a:rPr>
              <a:t>2 Normalise</a:t>
            </a:r>
          </a:p>
        </p:txBody>
      </p:sp>
      <p:sp>
        <p:nvSpPr>
          <p:cNvPr id="17451" name="Step 2 caption"/>
          <p:cNvSpPr/>
          <p:nvPr/>
        </p:nvSpPr>
        <p:spPr>
          <a:xfrm>
            <a:off x="5843016" y="5687568"/>
            <a:ext cx="978408" cy="274320"/>
          </a:xfrm>
          <a:prstGeom prst="rect">
            <a:avLst/>
          </a:prstGeom>
          <a:noFill/>
          <a:ln>
            <a:noFill/>
          </a:ln>
          <a:effectLst/>
        </p:spPr>
        <p:txBody>
          <a:bodyPr rtlCol="0" anchor="t" wrap="square" lIns="0" rIns="0" tIns="27432" bIns="27432"/>
          <a:lstStyle/>
          <a:p>
            <a:pPr algn="ctr">
              <a:spcBef>
                <a:spcPts val="0"/>
              </a:spcBef>
              <a:spcAft>
                <a:spcPts val="0"/>
              </a:spcAft>
            </a:pPr>
            <a:r>
              <a:rPr sz="950" b="0" i="0">
                <a:solidFill>
                  <a:srgbClr val="5A6B7B"/>
                </a:solidFill>
                <a:latin typeface="Arial"/>
              </a:rPr>
              <a:t>312 mappings</a:t>
            </a:r>
          </a:p>
        </p:txBody>
      </p:sp>
      <p:sp>
        <p:nvSpPr>
          <p:cNvPr id="17452" name="Step 3"/>
          <p:cNvSpPr/>
          <p:nvPr/>
        </p:nvSpPr>
        <p:spPr>
          <a:xfrm>
            <a:off x="6839712" y="5212080"/>
            <a:ext cx="978408" cy="457200"/>
          </a:xfrm>
          <a:prstGeom prst="homePlate">
            <a:avLst/>
          </a:prstGeom>
          <a:solidFill>
            <a:srgbClr val="0070C0"/>
          </a:solidFill>
          <a:ln>
            <a:noFill/>
          </a:ln>
          <a:effectLst/>
        </p:spPr>
        <p:txBody>
          <a:bodyPr rtlCol="0" anchor="ctr" wrap="square" lIns="27432" rIns="27432" tIns="27432" bIns="27432"/>
          <a:lstStyle/>
          <a:p>
            <a:pPr algn="ctr">
              <a:spcBef>
                <a:spcPts val="0"/>
              </a:spcBef>
              <a:spcAft>
                <a:spcPts val="0"/>
              </a:spcAft>
            </a:pPr>
            <a:r>
              <a:rPr sz="1050" b="1" i="0">
                <a:solidFill>
                  <a:srgbClr val="FFFFFF"/>
                </a:solidFill>
                <a:latin typeface="Arial"/>
              </a:rPr>
              <a:t>3 Score</a:t>
            </a:r>
          </a:p>
        </p:txBody>
      </p:sp>
      <p:sp>
        <p:nvSpPr>
          <p:cNvPr id="17453" name="Step 3 caption"/>
          <p:cNvSpPr/>
          <p:nvPr/>
        </p:nvSpPr>
        <p:spPr>
          <a:xfrm>
            <a:off x="6839712" y="5687568"/>
            <a:ext cx="978408" cy="274320"/>
          </a:xfrm>
          <a:prstGeom prst="rect">
            <a:avLst/>
          </a:prstGeom>
          <a:noFill/>
          <a:ln>
            <a:noFill/>
          </a:ln>
          <a:effectLst/>
        </p:spPr>
        <p:txBody>
          <a:bodyPr rtlCol="0" anchor="t" wrap="square" lIns="0" rIns="0" tIns="27432" bIns="27432"/>
          <a:lstStyle/>
          <a:p>
            <a:pPr algn="ctr">
              <a:spcBef>
                <a:spcPts val="0"/>
              </a:spcBef>
              <a:spcAft>
                <a:spcPts val="0"/>
              </a:spcAft>
            </a:pPr>
            <a:r>
              <a:rPr sz="950" b="0" i="0">
                <a:solidFill>
                  <a:srgbClr val="5A6B7B"/>
                </a:solidFill>
                <a:latin typeface="Arial"/>
              </a:rPr>
              <a:t>EWMA / CUSUM</a:t>
            </a:r>
          </a:p>
        </p:txBody>
      </p:sp>
      <p:sp>
        <p:nvSpPr>
          <p:cNvPr id="17454" name="Step 4"/>
          <p:cNvSpPr/>
          <p:nvPr/>
        </p:nvSpPr>
        <p:spPr>
          <a:xfrm>
            <a:off x="7836408" y="5212080"/>
            <a:ext cx="978408" cy="457200"/>
          </a:xfrm>
          <a:prstGeom prst="homePlate">
            <a:avLst/>
          </a:prstGeom>
          <a:solidFill>
            <a:srgbClr val="0070C0"/>
          </a:solidFill>
          <a:ln>
            <a:noFill/>
          </a:ln>
          <a:effectLst/>
        </p:spPr>
        <p:txBody>
          <a:bodyPr rtlCol="0" anchor="ctr" wrap="square" lIns="27432" rIns="27432" tIns="27432" bIns="27432"/>
          <a:lstStyle/>
          <a:p>
            <a:pPr algn="ctr">
              <a:spcBef>
                <a:spcPts val="0"/>
              </a:spcBef>
              <a:spcAft>
                <a:spcPts val="0"/>
              </a:spcAft>
            </a:pPr>
            <a:r>
              <a:rPr sz="1050" b="1" i="0">
                <a:solidFill>
                  <a:srgbClr val="FFFFFF"/>
                </a:solidFill>
                <a:latin typeface="Arial"/>
              </a:rPr>
              <a:t>4 Predict</a:t>
            </a:r>
          </a:p>
        </p:txBody>
      </p:sp>
      <p:sp>
        <p:nvSpPr>
          <p:cNvPr id="17455" name="Step 4 caption"/>
          <p:cNvSpPr/>
          <p:nvPr/>
        </p:nvSpPr>
        <p:spPr>
          <a:xfrm>
            <a:off x="7836408" y="5687568"/>
            <a:ext cx="978408" cy="274320"/>
          </a:xfrm>
          <a:prstGeom prst="rect">
            <a:avLst/>
          </a:prstGeom>
          <a:noFill/>
          <a:ln>
            <a:noFill/>
          </a:ln>
          <a:effectLst/>
        </p:spPr>
        <p:txBody>
          <a:bodyPr rtlCol="0" anchor="t" wrap="square" lIns="0" rIns="0" tIns="27432" bIns="27432"/>
          <a:lstStyle/>
          <a:p>
            <a:pPr algn="ctr">
              <a:spcBef>
                <a:spcPts val="0"/>
              </a:spcBef>
              <a:spcAft>
                <a:spcPts val="0"/>
              </a:spcAft>
            </a:pPr>
            <a:r>
              <a:rPr sz="950" b="0" i="0">
                <a:solidFill>
                  <a:srgbClr val="5A6B7B"/>
                </a:solidFill>
                <a:latin typeface="Arial"/>
              </a:rPr>
              <a:t>RUL + drivers</a:t>
            </a:r>
          </a:p>
        </p:txBody>
      </p:sp>
      <p:sp>
        <p:nvSpPr>
          <p:cNvPr id="17456" name="Step 5"/>
          <p:cNvSpPr/>
          <p:nvPr/>
        </p:nvSpPr>
        <p:spPr>
          <a:xfrm>
            <a:off x="8833104" y="5212080"/>
            <a:ext cx="978408" cy="457200"/>
          </a:xfrm>
          <a:prstGeom prst="homePlate">
            <a:avLst/>
          </a:prstGeom>
          <a:solidFill>
            <a:srgbClr val="0070C0"/>
          </a:solidFill>
          <a:ln>
            <a:noFill/>
          </a:ln>
          <a:effectLst/>
        </p:spPr>
        <p:txBody>
          <a:bodyPr rtlCol="0" anchor="ctr" wrap="square" lIns="27432" rIns="27432" tIns="27432" bIns="27432"/>
          <a:lstStyle/>
          <a:p>
            <a:pPr algn="ctr">
              <a:spcBef>
                <a:spcPts val="0"/>
              </a:spcBef>
              <a:spcAft>
                <a:spcPts val="0"/>
              </a:spcAft>
            </a:pPr>
            <a:r>
              <a:rPr sz="1050" b="1" i="0">
                <a:solidFill>
                  <a:srgbClr val="FFFFFF"/>
                </a:solidFill>
                <a:latin typeface="Arial"/>
              </a:rPr>
              <a:t>5 Decide</a:t>
            </a:r>
          </a:p>
        </p:txBody>
      </p:sp>
      <p:sp>
        <p:nvSpPr>
          <p:cNvPr id="17457" name="Step 5 caption"/>
          <p:cNvSpPr/>
          <p:nvPr/>
        </p:nvSpPr>
        <p:spPr>
          <a:xfrm>
            <a:off x="8833104" y="5687568"/>
            <a:ext cx="978408" cy="274320"/>
          </a:xfrm>
          <a:prstGeom prst="rect">
            <a:avLst/>
          </a:prstGeom>
          <a:noFill/>
          <a:ln>
            <a:noFill/>
          </a:ln>
          <a:effectLst/>
        </p:spPr>
        <p:txBody>
          <a:bodyPr rtlCol="0" anchor="t" wrap="square" lIns="0" rIns="0" tIns="27432" bIns="27432"/>
          <a:lstStyle/>
          <a:p>
            <a:pPr algn="ctr">
              <a:spcBef>
                <a:spcPts val="0"/>
              </a:spcBef>
              <a:spcAft>
                <a:spcPts val="0"/>
              </a:spcAft>
            </a:pPr>
            <a:r>
              <a:rPr sz="950" b="0" i="0">
                <a:solidFill>
                  <a:srgbClr val="5A6B7B"/>
                </a:solidFill>
                <a:latin typeface="Arial"/>
              </a:rPr>
              <a:t>ack real / false</a:t>
            </a:r>
          </a:p>
        </p:txBody>
      </p:sp>
      <p:sp>
        <p:nvSpPr>
          <p:cNvPr id="17458" name="Step 6"/>
          <p:cNvSpPr/>
          <p:nvPr/>
        </p:nvSpPr>
        <p:spPr>
          <a:xfrm>
            <a:off x="9829800" y="5212080"/>
            <a:ext cx="978408" cy="457200"/>
          </a:xfrm>
          <a:prstGeom prst="homePlate">
            <a:avLst/>
          </a:prstGeom>
          <a:solidFill>
            <a:srgbClr val="0070C0"/>
          </a:solidFill>
          <a:ln>
            <a:noFill/>
          </a:ln>
          <a:effectLst/>
        </p:spPr>
        <p:txBody>
          <a:bodyPr rtlCol="0" anchor="ctr" wrap="square" lIns="27432" rIns="27432" tIns="27432" bIns="27432"/>
          <a:lstStyle/>
          <a:p>
            <a:pPr algn="ctr">
              <a:spcBef>
                <a:spcPts val="0"/>
              </a:spcBef>
              <a:spcAft>
                <a:spcPts val="0"/>
              </a:spcAft>
            </a:pPr>
            <a:r>
              <a:rPr sz="1050" b="1" i="0">
                <a:solidFill>
                  <a:srgbClr val="FFFFFF"/>
                </a:solidFill>
                <a:latin typeface="Arial"/>
              </a:rPr>
              <a:t>6 Act</a:t>
            </a:r>
          </a:p>
        </p:txBody>
      </p:sp>
      <p:sp>
        <p:nvSpPr>
          <p:cNvPr id="17459" name="Step 6 caption"/>
          <p:cNvSpPr/>
          <p:nvPr/>
        </p:nvSpPr>
        <p:spPr>
          <a:xfrm>
            <a:off x="9829800" y="5687568"/>
            <a:ext cx="978408" cy="274320"/>
          </a:xfrm>
          <a:prstGeom prst="rect">
            <a:avLst/>
          </a:prstGeom>
          <a:noFill/>
          <a:ln>
            <a:noFill/>
          </a:ln>
          <a:effectLst/>
        </p:spPr>
        <p:txBody>
          <a:bodyPr rtlCol="0" anchor="t" wrap="square" lIns="0" rIns="0" tIns="27432" bIns="27432"/>
          <a:lstStyle/>
          <a:p>
            <a:pPr algn="ctr">
              <a:spcBef>
                <a:spcPts val="0"/>
              </a:spcBef>
              <a:spcAft>
                <a:spcPts val="0"/>
              </a:spcAft>
            </a:pPr>
            <a:r>
              <a:rPr sz="950" b="0" i="0">
                <a:solidFill>
                  <a:srgbClr val="5A6B7B"/>
                </a:solidFill>
                <a:latin typeface="Arial"/>
              </a:rPr>
              <a:t>WO + indent</a:t>
            </a:r>
          </a:p>
        </p:txBody>
      </p:sp>
      <p:sp>
        <p:nvSpPr>
          <p:cNvPr id="17460" name="Step 7"/>
          <p:cNvSpPr/>
          <p:nvPr/>
        </p:nvSpPr>
        <p:spPr>
          <a:xfrm>
            <a:off x="10826496" y="5212080"/>
            <a:ext cx="978408" cy="457200"/>
          </a:xfrm>
          <a:prstGeom prst="homePlate">
            <a:avLst/>
          </a:prstGeom>
          <a:solidFill>
            <a:srgbClr val="1E8E5A"/>
          </a:solidFill>
          <a:ln>
            <a:noFill/>
          </a:ln>
          <a:effectLst/>
        </p:spPr>
        <p:txBody>
          <a:bodyPr rtlCol="0" anchor="ctr" wrap="square" lIns="27432" rIns="27432" tIns="27432" bIns="27432"/>
          <a:lstStyle/>
          <a:p>
            <a:pPr algn="ctr">
              <a:spcBef>
                <a:spcPts val="0"/>
              </a:spcBef>
              <a:spcAft>
                <a:spcPts val="0"/>
              </a:spcAft>
            </a:pPr>
            <a:r>
              <a:rPr sz="1050" b="1" i="0">
                <a:solidFill>
                  <a:srgbClr val="FFFFFF"/>
                </a:solidFill>
                <a:latin typeface="Arial"/>
              </a:rPr>
              <a:t>7 Prove</a:t>
            </a:r>
          </a:p>
        </p:txBody>
      </p:sp>
      <p:sp>
        <p:nvSpPr>
          <p:cNvPr id="17461" name="Step 7 caption"/>
          <p:cNvSpPr/>
          <p:nvPr/>
        </p:nvSpPr>
        <p:spPr>
          <a:xfrm>
            <a:off x="10826496" y="5687568"/>
            <a:ext cx="978408" cy="274320"/>
          </a:xfrm>
          <a:prstGeom prst="rect">
            <a:avLst/>
          </a:prstGeom>
          <a:noFill/>
          <a:ln>
            <a:noFill/>
          </a:ln>
          <a:effectLst/>
        </p:spPr>
        <p:txBody>
          <a:bodyPr rtlCol="0" anchor="t" wrap="square" lIns="0" rIns="0" tIns="27432" bIns="27432"/>
          <a:lstStyle/>
          <a:p>
            <a:pPr algn="ctr">
              <a:spcBef>
                <a:spcPts val="0"/>
              </a:spcBef>
              <a:spcAft>
                <a:spcPts val="0"/>
              </a:spcAft>
            </a:pPr>
            <a:r>
              <a:rPr sz="950" b="0" i="0">
                <a:solidFill>
                  <a:srgbClr val="5A6B7B"/>
                </a:solidFill>
                <a:latin typeface="Arial"/>
              </a:rPr>
              <a:t>before / after</a:t>
            </a:r>
          </a:p>
        </p:txBody>
      </p:sp>
      <p:sp>
        <p:nvSpPr>
          <p:cNvPr id="17462" name="Rectangle 17461"/>
          <p:cNvSpPr/>
          <p:nvPr/>
        </p:nvSpPr>
        <p:spPr>
          <a:xfrm>
            <a:off x="4846320" y="5989320"/>
            <a:ext cx="6976872" cy="274320"/>
          </a:xfrm>
          <a:prstGeom prst="rect">
            <a:avLst/>
          </a:prstGeom>
          <a:noFill/>
          <a:ln>
            <a:noFill/>
          </a:ln>
          <a:effectLst/>
        </p:spPr>
        <p:txBody>
          <a:bodyPr rtlCol="0" anchor="t" wrap="square" lIns="0" rIns="0" tIns="27432" bIns="27432"/>
          <a:lstStyle/>
          <a:p>
            <a:pPr algn="l">
              <a:spcBef>
                <a:spcPts val="0"/>
              </a:spcBef>
              <a:spcAft>
                <a:spcPts val="0"/>
              </a:spcAft>
            </a:pPr>
            <a:r>
              <a:rPr sz="1100" b="1" i="0">
                <a:solidFill>
                  <a:srgbClr val="1E8E5A"/>
                </a:solidFill>
                <a:latin typeface="Arial"/>
              </a:rPr>
              <a:t>Result: </a:t>
            </a:r>
            <a:r>
              <a:rPr sz="1100" b="0" i="0">
                <a:solidFill>
                  <a:srgbClr val="1B2733"/>
                </a:solidFill>
                <a:latin typeface="Arial"/>
              </a:rPr>
              <a:t>availability ↑  ·  reactive work ↓  ·  downtime hours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Rectangle 17409"/>
          <p:cNvSpPr/>
          <p:nvPr/>
        </p:nvSpPr>
        <p:spPr>
          <a:xfrm>
            <a:off x="365760" y="1234440"/>
            <a:ext cx="137160" cy="137160"/>
          </a:xfrm>
          <a:prstGeom prst="rect">
            <a:avLst/>
          </a:prstGeom>
          <a:solidFill>
            <a:srgbClr val="0070C0"/>
          </a:solidFill>
          <a:ln>
            <a:noFill/>
          </a:ln>
          <a:effectLst/>
        </p:spPr>
        <p:txBody>
          <a:bodyPr rtlCol="0" anchor="t" wrap="square" lIns="54864" rIns="54864" tIns="27432" bIns="27432"/>
          <a:lstStyle/>
          <a:p>
            <a:pPr algn="l">
              <a:spcBef>
                <a:spcPts val="0"/>
              </a:spcBef>
              <a:spcAft>
                <a:spcPts val="0"/>
              </a:spcAft>
            </a:pPr>
            <a:r>
              <a:rPr sz="1200" b="0" i="0">
                <a:solidFill>
                  <a:srgbClr val="1B2733"/>
                </a:solidFill>
                <a:latin typeface="Arial"/>
              </a:rPr>
              <a:t/>
            </a:r>
          </a:p>
        </p:txBody>
      </p:sp>
      <p:sp>
        <p:nvSpPr>
          <p:cNvPr id="17411" name="Rectangle 17410"/>
          <p:cNvSpPr/>
          <p:nvPr/>
        </p:nvSpPr>
        <p:spPr>
          <a:xfrm>
            <a:off x="566928" y="1170432"/>
            <a:ext cx="4645152" cy="274320"/>
          </a:xfrm>
          <a:prstGeom prst="rect">
            <a:avLst/>
          </a:prstGeom>
          <a:noFill/>
          <a:ln>
            <a:noFill/>
          </a:ln>
          <a:effectLst/>
        </p:spPr>
        <p:txBody>
          <a:bodyPr rtlCol="0" anchor="ctr" wrap="square" lIns="0" rIns="0" tIns="27432" bIns="27432"/>
          <a:lstStyle/>
          <a:p>
            <a:pPr algn="l">
              <a:spcBef>
                <a:spcPts val="0"/>
              </a:spcBef>
              <a:spcAft>
                <a:spcPts val="0"/>
              </a:spcAft>
            </a:pPr>
            <a:r>
              <a:rPr sz="1400" b="1" i="0">
                <a:solidFill>
                  <a:srgbClr val="0B2A4A"/>
                </a:solidFill>
                <a:latin typeface="Arial"/>
              </a:rPr>
              <a:t>Analysis of the feasibility of the idea</a:t>
            </a:r>
          </a:p>
        </p:txBody>
      </p:sp>
      <p:sp>
        <p:nvSpPr>
          <p:cNvPr id="17412" name="Rectangle 17411"/>
          <p:cNvSpPr/>
          <p:nvPr/>
        </p:nvSpPr>
        <p:spPr>
          <a:xfrm>
            <a:off x="365760" y="1499616"/>
            <a:ext cx="4846320" cy="2377440"/>
          </a:xfrm>
          <a:prstGeom prst="rect">
            <a:avLst/>
          </a:prstGeom>
          <a:noFill/>
          <a:ln>
            <a:noFill/>
          </a:ln>
          <a:effectLst/>
        </p:spPr>
        <p:txBody>
          <a:bodyPr rtlCol="0" anchor="t" wrap="square" lIns="0" rIns="0" tIns="27432" bIns="27432"/>
          <a:lstStyle/>
          <a:p>
            <a:pPr algn="l" marL="146304" indent="-146304">
              <a:spcBef>
                <a:spcPts val="0"/>
              </a:spcBef>
              <a:spcAft>
                <a:spcPts val="400"/>
              </a:spcAft>
              <a:buClr>
                <a:srgbClr val="0070C0"/>
              </a:buClr>
              <a:buFont typeface="Arial"/>
              <a:buChar char="•"/>
            </a:pPr>
            <a:r>
              <a:rPr sz="1200" b="1" i="0">
                <a:solidFill>
                  <a:srgbClr val="1B2733"/>
                </a:solidFill>
                <a:latin typeface="Arial"/>
              </a:rPr>
              <a:t>Already built: </a:t>
            </a:r>
            <a:r>
              <a:rPr sz="1200" b="0" i="0">
                <a:solidFill>
                  <a:srgbClr val="1B2733"/>
                </a:solidFill>
                <a:latin typeface="Arial"/>
              </a:rPr>
              <a:t>working prototype, 8 pages, strict typecheck, clean build</a:t>
            </a:r>
          </a:p>
          <a:p>
            <a:pPr algn="l" marL="146304" indent="-146304">
              <a:spcBef>
                <a:spcPts val="0"/>
              </a:spcBef>
              <a:spcAft>
                <a:spcPts val="400"/>
              </a:spcAft>
              <a:buClr>
                <a:srgbClr val="0070C0"/>
              </a:buClr>
              <a:buFont typeface="Arial"/>
              <a:buChar char="•"/>
            </a:pPr>
            <a:r>
              <a:rPr sz="1200" b="1" i="0">
                <a:solidFill>
                  <a:srgbClr val="1B2733"/>
                </a:solidFill>
                <a:latin typeface="Arial"/>
              </a:rPr>
              <a:t>Software-only: </a:t>
            </a:r>
            <a:r>
              <a:rPr sz="1200" b="0" i="0">
                <a:solidFill>
                  <a:srgbClr val="1B2733"/>
                </a:solidFill>
                <a:latin typeface="Arial"/>
              </a:rPr>
              <a:t>uses data that already exists – ACMS exports, logbook, ERP, depot feeds</a:t>
            </a:r>
          </a:p>
          <a:p>
            <a:pPr algn="l" marL="146304" indent="-146304">
              <a:spcBef>
                <a:spcPts val="0"/>
              </a:spcBef>
              <a:spcAft>
                <a:spcPts val="400"/>
              </a:spcAft>
              <a:buClr>
                <a:srgbClr val="0070C0"/>
              </a:buClr>
              <a:buFont typeface="Arial"/>
              <a:buChar char="•"/>
            </a:pPr>
            <a:r>
              <a:rPr sz="1200" b="1" i="0">
                <a:solidFill>
                  <a:srgbClr val="1B2733"/>
                </a:solidFill>
                <a:latin typeface="Arial"/>
              </a:rPr>
              <a:t>Standards path: </a:t>
            </a:r>
            <a:r>
              <a:rPr sz="1200" b="0" i="0">
                <a:solidFill>
                  <a:srgbClr val="1B2733"/>
                </a:solidFill>
                <a:latin typeface="Arial"/>
              </a:rPr>
              <a:t>ATA iSpec 2200, MIMOSA OSA-CBM / ISO 13374 – no lock-in</a:t>
            </a:r>
          </a:p>
          <a:p>
            <a:pPr algn="l" marL="146304" indent="-146304">
              <a:spcBef>
                <a:spcPts val="0"/>
              </a:spcBef>
              <a:spcAft>
                <a:spcPts val="400"/>
              </a:spcAft>
              <a:buClr>
                <a:srgbClr val="0070C0"/>
              </a:buClr>
              <a:buFont typeface="Arial"/>
              <a:buChar char="•"/>
            </a:pPr>
            <a:r>
              <a:rPr sz="1200" b="1" i="0">
                <a:solidFill>
                  <a:srgbClr val="1B2733"/>
                </a:solidFill>
                <a:latin typeface="Arial"/>
              </a:rPr>
              <a:t>Production-shaped: </a:t>
            </a:r>
            <a:r>
              <a:rPr sz="1200" b="0" i="0">
                <a:solidFill>
                  <a:srgbClr val="1B2733"/>
                </a:solidFill>
                <a:latin typeface="Arial"/>
              </a:rPr>
              <a:t>entities map to MRO / ERP records; CSV import proves ingest</a:t>
            </a:r>
          </a:p>
          <a:p>
            <a:pPr algn="l" marL="146304" indent="-146304">
              <a:spcBef>
                <a:spcPts val="0"/>
              </a:spcBef>
              <a:spcAft>
                <a:spcPts val="0"/>
              </a:spcAft>
              <a:buClr>
                <a:srgbClr val="0070C0"/>
              </a:buClr>
              <a:buFont typeface="Arial"/>
              <a:buChar char="•"/>
            </a:pPr>
            <a:r>
              <a:rPr sz="1200" b="1" i="0">
                <a:solidFill>
                  <a:srgbClr val="1B2733"/>
                </a:solidFill>
                <a:latin typeface="Arial"/>
              </a:rPr>
              <a:t>Low cost: </a:t>
            </a:r>
            <a:r>
              <a:rPr sz="1200" b="0" i="0">
                <a:solidFill>
                  <a:srgbClr val="1B2733"/>
                </a:solidFill>
                <a:latin typeface="Arial"/>
              </a:rPr>
              <a:t>248 KB front-end; base-level server is enough</a:t>
            </a:r>
          </a:p>
        </p:txBody>
      </p:sp>
      <p:sp>
        <p:nvSpPr>
          <p:cNvPr id="17413" name="Rectangle 17412"/>
          <p:cNvSpPr/>
          <p:nvPr/>
        </p:nvSpPr>
        <p:spPr>
          <a:xfrm>
            <a:off x="365760" y="3995928"/>
            <a:ext cx="137160" cy="137160"/>
          </a:xfrm>
          <a:prstGeom prst="rect">
            <a:avLst/>
          </a:prstGeom>
          <a:solidFill>
            <a:srgbClr val="0070C0"/>
          </a:solidFill>
          <a:ln>
            <a:noFill/>
          </a:ln>
          <a:effectLst/>
        </p:spPr>
        <p:txBody>
          <a:bodyPr rtlCol="0" anchor="t" wrap="square" lIns="54864" rIns="54864" tIns="27432" bIns="27432"/>
          <a:lstStyle/>
          <a:p>
            <a:pPr algn="l">
              <a:spcBef>
                <a:spcPts val="0"/>
              </a:spcBef>
              <a:spcAft>
                <a:spcPts val="0"/>
              </a:spcAft>
            </a:pPr>
            <a:r>
              <a:rPr sz="1200" b="0" i="0">
                <a:solidFill>
                  <a:srgbClr val="1B2733"/>
                </a:solidFill>
                <a:latin typeface="Arial"/>
              </a:rPr>
              <a:t/>
            </a:r>
          </a:p>
        </p:txBody>
      </p:sp>
      <p:sp>
        <p:nvSpPr>
          <p:cNvPr id="17414" name="Rectangle 17413"/>
          <p:cNvSpPr/>
          <p:nvPr/>
        </p:nvSpPr>
        <p:spPr>
          <a:xfrm>
            <a:off x="566928" y="3931920"/>
            <a:ext cx="4645152" cy="274320"/>
          </a:xfrm>
          <a:prstGeom prst="rect">
            <a:avLst/>
          </a:prstGeom>
          <a:noFill/>
          <a:ln>
            <a:noFill/>
          </a:ln>
          <a:effectLst/>
        </p:spPr>
        <p:txBody>
          <a:bodyPr rtlCol="0" anchor="ctr" wrap="square" lIns="0" rIns="0" tIns="27432" bIns="27432"/>
          <a:lstStyle/>
          <a:p>
            <a:pPr algn="l">
              <a:spcBef>
                <a:spcPts val="0"/>
              </a:spcBef>
              <a:spcAft>
                <a:spcPts val="0"/>
              </a:spcAft>
            </a:pPr>
            <a:r>
              <a:rPr sz="1400" b="1" i="0">
                <a:solidFill>
                  <a:srgbClr val="0B2A4A"/>
                </a:solidFill>
                <a:latin typeface="Arial"/>
              </a:rPr>
              <a:t>Phased adoption – no big-bang cut-over</a:t>
            </a:r>
          </a:p>
        </p:txBody>
      </p:sp>
      <p:sp>
        <p:nvSpPr>
          <p:cNvPr id="17415" name="Phase 1"/>
          <p:cNvSpPr/>
          <p:nvPr/>
        </p:nvSpPr>
        <p:spPr>
          <a:xfrm>
            <a:off x="365760" y="4279392"/>
            <a:ext cx="1554480" cy="384048"/>
          </a:xfrm>
          <a:prstGeom prst="homePlate">
            <a:avLst/>
          </a:prstGeom>
          <a:solidFill>
            <a:srgbClr val="0070C0"/>
          </a:solidFill>
          <a:ln>
            <a:noFill/>
          </a:ln>
          <a:effectLst/>
        </p:spPr>
        <p:txBody>
          <a:bodyPr rtlCol="0" anchor="ctr" wrap="square" tIns="27432" bIns="27432"/>
          <a:lstStyle/>
          <a:p>
            <a:pPr algn="l">
              <a:spcBef>
                <a:spcPts val="0"/>
              </a:spcBef>
              <a:spcAft>
                <a:spcPts val="0"/>
              </a:spcAft>
            </a:pPr>
            <a:r>
              <a:rPr sz="1200" b="1" i="0">
                <a:solidFill>
                  <a:srgbClr val="FFFFFF"/>
                </a:solidFill>
                <a:latin typeface="Arial"/>
              </a:rPr>
              <a:t>30 days</a:t>
            </a:r>
            <a:r>
              <a:rPr sz="1100" b="0" i="0">
                <a:solidFill>
                  <a:srgbClr val="D8E8F7"/>
                </a:solidFill>
                <a:latin typeface="Arial"/>
              </a:rPr>
              <a:t>  Connect</a:t>
            </a:r>
          </a:p>
        </p:txBody>
      </p:sp>
      <p:sp>
        <p:nvSpPr>
          <p:cNvPr id="17416" name="Phase 1 detail"/>
          <p:cNvSpPr/>
          <p:nvPr/>
        </p:nvSpPr>
        <p:spPr>
          <a:xfrm>
            <a:off x="365760" y="4700016"/>
            <a:ext cx="1554480" cy="1371600"/>
          </a:xfrm>
          <a:prstGeom prst="rect">
            <a:avLst/>
          </a:prstGeom>
          <a:solidFill>
            <a:srgbClr val="EAF3FB"/>
          </a:solidFill>
          <a:ln>
            <a:noFill/>
          </a:ln>
          <a:effectLst/>
        </p:spPr>
        <p:txBody>
          <a:bodyPr rtlCol="0" anchor="t" wrap="square" tIns="27432" bIns="27432"/>
          <a:lstStyle/>
          <a:p>
            <a:pPr algn="l">
              <a:spcBef>
                <a:spcPts val="0"/>
              </a:spcBef>
              <a:spcAft>
                <a:spcPts val="600"/>
              </a:spcAft>
            </a:pPr>
            <a:r>
              <a:rPr sz="1150" b="0" i="0">
                <a:solidFill>
                  <a:srgbClr val="1B2733"/>
                </a:solidFill>
                <a:latin typeface="Arial"/>
              </a:rPr>
              <a:t>ACMS / MQTT connector, auth + RBAC</a:t>
            </a:r>
          </a:p>
          <a:p>
            <a:pPr algn="l">
              <a:spcBef>
                <a:spcPts val="0"/>
              </a:spcBef>
              <a:spcAft>
                <a:spcPts val="0"/>
              </a:spcAft>
            </a:pPr>
            <a:r>
              <a:rPr sz="1150" b="1" i="0">
                <a:solidFill>
                  <a:srgbClr val="0070C0"/>
                </a:solidFill>
                <a:latin typeface="Arial"/>
              </a:rPr>
              <a:t>→ Alerts on real data</a:t>
            </a:r>
          </a:p>
        </p:txBody>
      </p:sp>
      <p:sp>
        <p:nvSpPr>
          <p:cNvPr id="17417" name="Phase 2"/>
          <p:cNvSpPr/>
          <p:nvPr/>
        </p:nvSpPr>
        <p:spPr>
          <a:xfrm>
            <a:off x="2011680" y="4279392"/>
            <a:ext cx="1554480" cy="384048"/>
          </a:xfrm>
          <a:prstGeom prst="homePlate">
            <a:avLst/>
          </a:prstGeom>
          <a:solidFill>
            <a:srgbClr val="0070C0"/>
          </a:solidFill>
          <a:ln>
            <a:noFill/>
          </a:ln>
          <a:effectLst/>
        </p:spPr>
        <p:txBody>
          <a:bodyPr rtlCol="0" anchor="ctr" wrap="square" tIns="27432" bIns="27432"/>
          <a:lstStyle/>
          <a:p>
            <a:pPr algn="l">
              <a:spcBef>
                <a:spcPts val="0"/>
              </a:spcBef>
              <a:spcAft>
                <a:spcPts val="0"/>
              </a:spcAft>
            </a:pPr>
            <a:r>
              <a:rPr sz="1200" b="1" i="0">
                <a:solidFill>
                  <a:srgbClr val="FFFFFF"/>
                </a:solidFill>
                <a:latin typeface="Arial"/>
              </a:rPr>
              <a:t>90 days</a:t>
            </a:r>
            <a:r>
              <a:rPr sz="1100" b="0" i="0">
                <a:solidFill>
                  <a:srgbClr val="D8E8F7"/>
                </a:solidFill>
                <a:latin typeface="Arial"/>
              </a:rPr>
              <a:t>  Train</a:t>
            </a:r>
          </a:p>
        </p:txBody>
      </p:sp>
      <p:sp>
        <p:nvSpPr>
          <p:cNvPr id="17418" name="Phase 2 detail"/>
          <p:cNvSpPr/>
          <p:nvPr/>
        </p:nvSpPr>
        <p:spPr>
          <a:xfrm>
            <a:off x="2011680" y="4700016"/>
            <a:ext cx="1554480" cy="1371600"/>
          </a:xfrm>
          <a:prstGeom prst="rect">
            <a:avLst/>
          </a:prstGeom>
          <a:solidFill>
            <a:srgbClr val="EAF3FB"/>
          </a:solidFill>
          <a:ln>
            <a:noFill/>
          </a:ln>
          <a:effectLst/>
        </p:spPr>
        <p:txBody>
          <a:bodyPr rtlCol="0" anchor="t" wrap="square" tIns="27432" bIns="27432"/>
          <a:lstStyle/>
          <a:p>
            <a:pPr algn="l">
              <a:spcBef>
                <a:spcPts val="0"/>
              </a:spcBef>
              <a:spcAft>
                <a:spcPts val="600"/>
              </a:spcAft>
            </a:pPr>
            <a:r>
              <a:rPr sz="1150" b="0" i="0">
                <a:solidFill>
                  <a:srgbClr val="1B2733"/>
                </a:solidFill>
                <a:latin typeface="Arial"/>
              </a:rPr>
              <a:t>RUL models on fleet history, MRO write-back with approvals</a:t>
            </a:r>
          </a:p>
          <a:p>
            <a:pPr algn="l">
              <a:spcBef>
                <a:spcPts val="0"/>
              </a:spcBef>
              <a:spcAft>
                <a:spcPts val="0"/>
              </a:spcAft>
            </a:pPr>
            <a:r>
              <a:rPr sz="1150" b="1" i="0">
                <a:solidFill>
                  <a:srgbClr val="0070C0"/>
                </a:solidFill>
                <a:latin typeface="Arial"/>
              </a:rPr>
              <a:t>→ Trained RUL, one-click write-back</a:t>
            </a:r>
          </a:p>
        </p:txBody>
      </p:sp>
      <p:sp>
        <p:nvSpPr>
          <p:cNvPr id="17419" name="Phase 3"/>
          <p:cNvSpPr/>
          <p:nvPr/>
        </p:nvSpPr>
        <p:spPr>
          <a:xfrm>
            <a:off x="3657600" y="4279392"/>
            <a:ext cx="1554480" cy="384048"/>
          </a:xfrm>
          <a:prstGeom prst="homePlate">
            <a:avLst/>
          </a:prstGeom>
          <a:solidFill>
            <a:srgbClr val="0070C0"/>
          </a:solidFill>
          <a:ln>
            <a:noFill/>
          </a:ln>
          <a:effectLst/>
        </p:spPr>
        <p:txBody>
          <a:bodyPr rtlCol="0" anchor="ctr" wrap="square" tIns="27432" bIns="27432"/>
          <a:lstStyle/>
          <a:p>
            <a:pPr algn="l">
              <a:spcBef>
                <a:spcPts val="0"/>
              </a:spcBef>
              <a:spcAft>
                <a:spcPts val="0"/>
              </a:spcAft>
            </a:pPr>
            <a:r>
              <a:rPr sz="1200" b="1" i="0">
                <a:solidFill>
                  <a:srgbClr val="FFFFFF"/>
                </a:solidFill>
                <a:latin typeface="Arial"/>
              </a:rPr>
              <a:t>180 days</a:t>
            </a:r>
            <a:r>
              <a:rPr sz="1100" b="0" i="0">
                <a:solidFill>
                  <a:srgbClr val="D8E8F7"/>
                </a:solidFill>
                <a:latin typeface="Arial"/>
              </a:rPr>
              <a:t>  Scale</a:t>
            </a:r>
          </a:p>
        </p:txBody>
      </p:sp>
      <p:sp>
        <p:nvSpPr>
          <p:cNvPr id="17420" name="Phase 3 detail"/>
          <p:cNvSpPr/>
          <p:nvPr/>
        </p:nvSpPr>
        <p:spPr>
          <a:xfrm>
            <a:off x="3657600" y="4700016"/>
            <a:ext cx="1554480" cy="1371600"/>
          </a:xfrm>
          <a:prstGeom prst="rect">
            <a:avLst/>
          </a:prstGeom>
          <a:solidFill>
            <a:srgbClr val="EAF3FB"/>
          </a:solidFill>
          <a:ln>
            <a:noFill/>
          </a:ln>
          <a:effectLst/>
        </p:spPr>
        <p:txBody>
          <a:bodyPr rtlCol="0" anchor="t" wrap="square" tIns="27432" bIns="27432"/>
          <a:lstStyle/>
          <a:p>
            <a:pPr algn="l">
              <a:spcBef>
                <a:spcPts val="0"/>
              </a:spcBef>
              <a:spcAft>
                <a:spcPts val="600"/>
              </a:spcAft>
            </a:pPr>
            <a:r>
              <a:rPr sz="1150" b="0" i="0">
                <a:solidFill>
                  <a:srgbClr val="1B2733"/>
                </a:solidFill>
                <a:latin typeface="Arial"/>
              </a:rPr>
              <a:t>Multi-base rollout, offline flight-line tablets</a:t>
            </a:r>
          </a:p>
          <a:p>
            <a:pPr algn="l">
              <a:spcBef>
                <a:spcPts val="0"/>
              </a:spcBef>
              <a:spcAft>
                <a:spcPts val="0"/>
              </a:spcAft>
            </a:pPr>
            <a:r>
              <a:rPr sz="1150" b="1" i="0">
                <a:solidFill>
                  <a:srgbClr val="0070C0"/>
                </a:solidFill>
                <a:latin typeface="Arial"/>
              </a:rPr>
              <a:t>→ Fleet-wide availability picture</a:t>
            </a:r>
          </a:p>
        </p:txBody>
      </p:sp>
      <p:sp>
        <p:nvSpPr>
          <p:cNvPr id="17421" name="Risk header"/>
          <p:cNvSpPr/>
          <p:nvPr/>
        </p:nvSpPr>
        <p:spPr>
          <a:xfrm>
            <a:off x="5486400" y="1170432"/>
            <a:ext cx="2468880" cy="310896"/>
          </a:xfrm>
          <a:prstGeom prst="rect">
            <a:avLst/>
          </a:prstGeom>
          <a:solidFill>
            <a:srgbClr val="B93A32"/>
          </a:solidFill>
          <a:ln>
            <a:noFill/>
          </a:ln>
          <a:effectLst/>
        </p:spPr>
        <p:txBody>
          <a:bodyPr rtlCol="0" anchor="ctr" wrap="square" lIns="54864" rIns="54864" tIns="27432" bIns="27432"/>
          <a:lstStyle/>
          <a:p>
            <a:pPr algn="ctr">
              <a:spcBef>
                <a:spcPts val="0"/>
              </a:spcBef>
              <a:spcAft>
                <a:spcPts val="0"/>
              </a:spcAft>
            </a:pPr>
            <a:r>
              <a:rPr sz="1200" b="1" i="0">
                <a:solidFill>
                  <a:srgbClr val="FFFFFF"/>
                </a:solidFill>
                <a:latin typeface="Arial"/>
              </a:rPr>
              <a:t>Potential challenges and risks</a:t>
            </a:r>
          </a:p>
        </p:txBody>
      </p:sp>
      <p:sp>
        <p:nvSpPr>
          <p:cNvPr id="17422" name="Strategy header"/>
          <p:cNvSpPr/>
          <p:nvPr/>
        </p:nvSpPr>
        <p:spPr>
          <a:xfrm>
            <a:off x="8028431" y="1170432"/>
            <a:ext cx="3794760" cy="310896"/>
          </a:xfrm>
          <a:prstGeom prst="rect">
            <a:avLst/>
          </a:prstGeom>
          <a:solidFill>
            <a:srgbClr val="1E8E5A"/>
          </a:solidFill>
          <a:ln>
            <a:noFill/>
          </a:ln>
          <a:effectLst/>
        </p:spPr>
        <p:txBody>
          <a:bodyPr rtlCol="0" anchor="ctr" wrap="square" lIns="54864" rIns="54864" tIns="27432" bIns="27432"/>
          <a:lstStyle/>
          <a:p>
            <a:pPr algn="ctr">
              <a:spcBef>
                <a:spcPts val="0"/>
              </a:spcBef>
              <a:spcAft>
                <a:spcPts val="0"/>
              </a:spcAft>
            </a:pPr>
            <a:r>
              <a:rPr sz="1200" b="1" i="0">
                <a:solidFill>
                  <a:srgbClr val="FFFFFF"/>
                </a:solidFill>
                <a:latin typeface="Arial"/>
              </a:rPr>
              <a:t>Strategies for overcoming these challenges</a:t>
            </a:r>
          </a:p>
        </p:txBody>
      </p:sp>
      <p:sp>
        <p:nvSpPr>
          <p:cNvPr id="17423" name="Risk 1"/>
          <p:cNvSpPr/>
          <p:nvPr/>
        </p:nvSpPr>
        <p:spPr>
          <a:xfrm>
            <a:off x="5486400" y="1554480"/>
            <a:ext cx="2468880" cy="722376"/>
          </a:xfrm>
          <a:prstGeom prst="rect">
            <a:avLst/>
          </a:prstGeom>
          <a:solidFill>
            <a:srgbClr val="FBE9E7"/>
          </a:solidFill>
          <a:ln>
            <a:noFill/>
          </a:ln>
          <a:effectLst/>
        </p:spPr>
        <p:txBody>
          <a:bodyPr rtlCol="0" anchor="ctr" wrap="square" tIns="27432" bIns="27432"/>
          <a:lstStyle/>
          <a:p>
            <a:pPr algn="l">
              <a:spcBef>
                <a:spcPts val="0"/>
              </a:spcBef>
              <a:spcAft>
                <a:spcPts val="0"/>
              </a:spcAft>
            </a:pPr>
            <a:r>
              <a:rPr sz="1150" b="1" i="0">
                <a:solidFill>
                  <a:srgbClr val="B93A32"/>
                </a:solidFill>
                <a:latin typeface="Arial"/>
              </a:rPr>
              <a:t>Data quality at the source</a:t>
            </a:r>
          </a:p>
        </p:txBody>
      </p:sp>
      <p:sp>
        <p:nvSpPr>
          <p:cNvPr id="17424" name="Strategy 1"/>
          <p:cNvSpPr/>
          <p:nvPr/>
        </p:nvSpPr>
        <p:spPr>
          <a:xfrm>
            <a:off x="8028431" y="1554480"/>
            <a:ext cx="3794760" cy="722376"/>
          </a:xfrm>
          <a:prstGeom prst="rect">
            <a:avLst/>
          </a:prstGeom>
          <a:solidFill>
            <a:srgbClr val="E4F4EC"/>
          </a:solidFill>
          <a:ln>
            <a:noFill/>
          </a:ln>
          <a:effectLst/>
        </p:spPr>
        <p:txBody>
          <a:bodyPr rtlCol="0" anchor="ctr" wrap="square" tIns="27432" bIns="27432"/>
          <a:lstStyle/>
          <a:p>
            <a:pPr algn="l">
              <a:spcBef>
                <a:spcPts val="0"/>
              </a:spcBef>
              <a:spcAft>
                <a:spcPts val="0"/>
              </a:spcAft>
            </a:pPr>
            <a:r>
              <a:rPr sz="1050" b="0" i="0">
                <a:solidFill>
                  <a:srgbClr val="1B2733"/>
                </a:solidFill>
                <a:latin typeface="Arial"/>
              </a:rPr>
              <a:t>5 quality guards quarantine bad records before the model; feed freshness shown openly (STALE / SYNCING)</a:t>
            </a:r>
          </a:p>
        </p:txBody>
      </p:sp>
      <p:sp>
        <p:nvSpPr>
          <p:cNvPr id="17425" name="Right Arrow 17424"/>
          <p:cNvSpPr/>
          <p:nvPr/>
        </p:nvSpPr>
        <p:spPr>
          <a:xfrm>
            <a:off x="7964424" y="1801368"/>
            <a:ext cx="91440" cy="228600"/>
          </a:xfrm>
          <a:prstGeom prst="rightArrow">
            <a:avLst/>
          </a:prstGeom>
          <a:solidFill>
            <a:srgbClr val="5A6B7B"/>
          </a:solidFill>
          <a:ln>
            <a:noFill/>
          </a:ln>
          <a:effectLst/>
        </p:spPr>
        <p:txBody>
          <a:bodyPr rtlCol="0" anchor="ctr"/>
          <a:lstStyle/>
          <a:p>
            <a:pPr algn="ctr"/>
          </a:p>
        </p:txBody>
      </p:sp>
      <p:sp>
        <p:nvSpPr>
          <p:cNvPr id="17426" name="Risk 2"/>
          <p:cNvSpPr/>
          <p:nvPr/>
        </p:nvSpPr>
        <p:spPr>
          <a:xfrm>
            <a:off x="5486400" y="2331720"/>
            <a:ext cx="2468880" cy="722376"/>
          </a:xfrm>
          <a:prstGeom prst="rect">
            <a:avLst/>
          </a:prstGeom>
          <a:solidFill>
            <a:srgbClr val="FBE9E7"/>
          </a:solidFill>
          <a:ln>
            <a:noFill/>
          </a:ln>
          <a:effectLst/>
        </p:spPr>
        <p:txBody>
          <a:bodyPr rtlCol="0" anchor="ctr" wrap="square" tIns="27432" bIns="27432"/>
          <a:lstStyle/>
          <a:p>
            <a:pPr algn="l">
              <a:spcBef>
                <a:spcPts val="0"/>
              </a:spcBef>
              <a:spcAft>
                <a:spcPts val="0"/>
              </a:spcAft>
            </a:pPr>
            <a:r>
              <a:rPr sz="1150" b="1" i="0">
                <a:solidFill>
                  <a:srgbClr val="B93A32"/>
                </a:solidFill>
                <a:latin typeface="Arial"/>
              </a:rPr>
              <a:t>Model wrong or drifting</a:t>
            </a:r>
          </a:p>
        </p:txBody>
      </p:sp>
      <p:sp>
        <p:nvSpPr>
          <p:cNvPr id="17427" name="Strategy 2"/>
          <p:cNvSpPr/>
          <p:nvPr/>
        </p:nvSpPr>
        <p:spPr>
          <a:xfrm>
            <a:off x="8028431" y="2331720"/>
            <a:ext cx="3794760" cy="722376"/>
          </a:xfrm>
          <a:prstGeom prst="rect">
            <a:avLst/>
          </a:prstGeom>
          <a:solidFill>
            <a:srgbClr val="E4F4EC"/>
          </a:solidFill>
          <a:ln>
            <a:noFill/>
          </a:ln>
          <a:effectLst/>
        </p:spPr>
        <p:txBody>
          <a:bodyPr rtlCol="0" anchor="ctr" wrap="square" tIns="27432" bIns="27432"/>
          <a:lstStyle/>
          <a:p>
            <a:pPr algn="l">
              <a:spcBef>
                <a:spcPts val="0"/>
              </a:spcBef>
              <a:spcAft>
                <a:spcPts val="0"/>
              </a:spcAft>
            </a:pPr>
            <a:r>
              <a:rPr sz="1050" b="0" i="0">
                <a:solidFill>
                  <a:srgbClr val="1B2733"/>
                </a:solidFill>
                <a:latin typeface="Arial"/>
              </a:rPr>
              <a:t>Confidence on every alert; auditable outcome log (caught / false positive / missed); drift tracked per model</a:t>
            </a:r>
          </a:p>
        </p:txBody>
      </p:sp>
      <p:sp>
        <p:nvSpPr>
          <p:cNvPr id="17428" name="Right Arrow 17427"/>
          <p:cNvSpPr/>
          <p:nvPr/>
        </p:nvSpPr>
        <p:spPr>
          <a:xfrm>
            <a:off x="7964424" y="2578608"/>
            <a:ext cx="91440" cy="228600"/>
          </a:xfrm>
          <a:prstGeom prst="rightArrow">
            <a:avLst/>
          </a:prstGeom>
          <a:solidFill>
            <a:srgbClr val="5A6B7B"/>
          </a:solidFill>
          <a:ln>
            <a:noFill/>
          </a:ln>
          <a:effectLst/>
        </p:spPr>
        <p:txBody>
          <a:bodyPr rtlCol="0" anchor="ctr"/>
          <a:lstStyle/>
          <a:p>
            <a:pPr algn="ctr"/>
          </a:p>
        </p:txBody>
      </p:sp>
      <p:sp>
        <p:nvSpPr>
          <p:cNvPr id="17429" name="Risk 3"/>
          <p:cNvSpPr/>
          <p:nvPr/>
        </p:nvSpPr>
        <p:spPr>
          <a:xfrm>
            <a:off x="5486400" y="3108960"/>
            <a:ext cx="2468880" cy="722376"/>
          </a:xfrm>
          <a:prstGeom prst="rect">
            <a:avLst/>
          </a:prstGeom>
          <a:solidFill>
            <a:srgbClr val="FBE9E7"/>
          </a:solidFill>
          <a:ln>
            <a:noFill/>
          </a:ln>
          <a:effectLst/>
        </p:spPr>
        <p:txBody>
          <a:bodyPr rtlCol="0" anchor="ctr" wrap="square" tIns="27432" bIns="27432"/>
          <a:lstStyle/>
          <a:p>
            <a:pPr algn="l">
              <a:spcBef>
                <a:spcPts val="0"/>
              </a:spcBef>
              <a:spcAft>
                <a:spcPts val="0"/>
              </a:spcAft>
            </a:pPr>
            <a:r>
              <a:rPr sz="1150" b="1" i="0">
                <a:solidFill>
                  <a:srgbClr val="B93A32"/>
                </a:solidFill>
                <a:latin typeface="Arial"/>
              </a:rPr>
              <a:t>Security of defence data</a:t>
            </a:r>
          </a:p>
        </p:txBody>
      </p:sp>
      <p:sp>
        <p:nvSpPr>
          <p:cNvPr id="17430" name="Strategy 3"/>
          <p:cNvSpPr/>
          <p:nvPr/>
        </p:nvSpPr>
        <p:spPr>
          <a:xfrm>
            <a:off x="8028431" y="3108960"/>
            <a:ext cx="3794760" cy="722376"/>
          </a:xfrm>
          <a:prstGeom prst="rect">
            <a:avLst/>
          </a:prstGeom>
          <a:solidFill>
            <a:srgbClr val="E4F4EC"/>
          </a:solidFill>
          <a:ln>
            <a:noFill/>
          </a:ln>
          <a:effectLst/>
        </p:spPr>
        <p:txBody>
          <a:bodyPr rtlCol="0" anchor="ctr" wrap="square" tIns="27432" bIns="27432"/>
          <a:lstStyle/>
          <a:p>
            <a:pPr algn="l">
              <a:spcBef>
                <a:spcPts val="0"/>
              </a:spcBef>
              <a:spcAft>
                <a:spcPts val="0"/>
              </a:spcAft>
            </a:pPr>
            <a:r>
              <a:rPr sz="1050" b="0" i="0">
                <a:solidFill>
                  <a:srgbClr val="1B2733"/>
                </a:solidFill>
                <a:latin typeface="Arial"/>
              </a:rPr>
              <a:t>Auth + role-based access next; no external runtime dependencies, so it can run on a private network</a:t>
            </a:r>
          </a:p>
        </p:txBody>
      </p:sp>
      <p:sp>
        <p:nvSpPr>
          <p:cNvPr id="17431" name="Right Arrow 17430"/>
          <p:cNvSpPr/>
          <p:nvPr/>
        </p:nvSpPr>
        <p:spPr>
          <a:xfrm>
            <a:off x="7964424" y="3355848"/>
            <a:ext cx="91440" cy="228600"/>
          </a:xfrm>
          <a:prstGeom prst="rightArrow">
            <a:avLst/>
          </a:prstGeom>
          <a:solidFill>
            <a:srgbClr val="5A6B7B"/>
          </a:solidFill>
          <a:ln>
            <a:noFill/>
          </a:ln>
          <a:effectLst/>
        </p:spPr>
        <p:txBody>
          <a:bodyPr rtlCol="0" anchor="ctr"/>
          <a:lstStyle/>
          <a:p>
            <a:pPr algn="ctr"/>
          </a:p>
        </p:txBody>
      </p:sp>
      <p:sp>
        <p:nvSpPr>
          <p:cNvPr id="17432" name="Risk 4"/>
          <p:cNvSpPr/>
          <p:nvPr/>
        </p:nvSpPr>
        <p:spPr>
          <a:xfrm>
            <a:off x="5486400" y="3886200"/>
            <a:ext cx="2468880" cy="722376"/>
          </a:xfrm>
          <a:prstGeom prst="rect">
            <a:avLst/>
          </a:prstGeom>
          <a:solidFill>
            <a:srgbClr val="FBE9E7"/>
          </a:solidFill>
          <a:ln>
            <a:noFill/>
          </a:ln>
          <a:effectLst/>
        </p:spPr>
        <p:txBody>
          <a:bodyPr rtlCol="0" anchor="ctr" wrap="square" tIns="27432" bIns="27432"/>
          <a:lstStyle/>
          <a:p>
            <a:pPr algn="l">
              <a:spcBef>
                <a:spcPts val="0"/>
              </a:spcBef>
              <a:spcAft>
                <a:spcPts val="0"/>
              </a:spcAft>
            </a:pPr>
            <a:r>
              <a:rPr sz="1150" b="1" i="0">
                <a:solidFill>
                  <a:srgbClr val="B93A32"/>
                </a:solidFill>
                <a:latin typeface="Arial"/>
              </a:rPr>
              <a:t>Simulation ≠ real fleet</a:t>
            </a:r>
          </a:p>
        </p:txBody>
      </p:sp>
      <p:sp>
        <p:nvSpPr>
          <p:cNvPr id="17433" name="Strategy 4"/>
          <p:cNvSpPr/>
          <p:nvPr/>
        </p:nvSpPr>
        <p:spPr>
          <a:xfrm>
            <a:off x="8028431" y="3886200"/>
            <a:ext cx="3794760" cy="722376"/>
          </a:xfrm>
          <a:prstGeom prst="rect">
            <a:avLst/>
          </a:prstGeom>
          <a:solidFill>
            <a:srgbClr val="E4F4EC"/>
          </a:solidFill>
          <a:ln>
            <a:noFill/>
          </a:ln>
          <a:effectLst/>
        </p:spPr>
        <p:txBody>
          <a:bodyPr rtlCol="0" anchor="ctr" wrap="square" tIns="27432" bIns="27432"/>
          <a:lstStyle/>
          <a:p>
            <a:pPr algn="l">
              <a:spcBef>
                <a:spcPts val="0"/>
              </a:spcBef>
              <a:spcAft>
                <a:spcPts val="0"/>
              </a:spcAft>
            </a:pPr>
            <a:r>
              <a:rPr sz="1050" b="0" i="0">
                <a:solidFill>
                  <a:srgbClr val="1B2733"/>
                </a:solidFill>
                <a:latin typeface="Arial"/>
              </a:rPr>
              <a:t>Real-vs-simulated table published; real ACMS CSV scored by the same detector today; live connector first on roadmap</a:t>
            </a:r>
          </a:p>
        </p:txBody>
      </p:sp>
      <p:sp>
        <p:nvSpPr>
          <p:cNvPr id="17434" name="Right Arrow 17433"/>
          <p:cNvSpPr/>
          <p:nvPr/>
        </p:nvSpPr>
        <p:spPr>
          <a:xfrm>
            <a:off x="7964424" y="4133087"/>
            <a:ext cx="91440" cy="228600"/>
          </a:xfrm>
          <a:prstGeom prst="rightArrow">
            <a:avLst/>
          </a:prstGeom>
          <a:solidFill>
            <a:srgbClr val="5A6B7B"/>
          </a:solidFill>
          <a:ln>
            <a:noFill/>
          </a:ln>
          <a:effectLst/>
        </p:spPr>
        <p:txBody>
          <a:bodyPr rtlCol="0" anchor="ctr"/>
          <a:lstStyle/>
          <a:p>
            <a:pPr algn="ctr"/>
          </a:p>
        </p:txBody>
      </p:sp>
      <p:sp>
        <p:nvSpPr>
          <p:cNvPr id="17435" name="Risk 5"/>
          <p:cNvSpPr/>
          <p:nvPr/>
        </p:nvSpPr>
        <p:spPr>
          <a:xfrm>
            <a:off x="5486400" y="4663440"/>
            <a:ext cx="2468880" cy="722376"/>
          </a:xfrm>
          <a:prstGeom prst="rect">
            <a:avLst/>
          </a:prstGeom>
          <a:solidFill>
            <a:srgbClr val="FBE9E7"/>
          </a:solidFill>
          <a:ln>
            <a:noFill/>
          </a:ln>
          <a:effectLst/>
        </p:spPr>
        <p:txBody>
          <a:bodyPr rtlCol="0" anchor="ctr" wrap="square" tIns="27432" bIns="27432"/>
          <a:lstStyle/>
          <a:p>
            <a:pPr algn="l">
              <a:spcBef>
                <a:spcPts val="0"/>
              </a:spcBef>
              <a:spcAft>
                <a:spcPts val="0"/>
              </a:spcAft>
            </a:pPr>
            <a:r>
              <a:rPr sz="1150" b="1" i="0">
                <a:solidFill>
                  <a:srgbClr val="B93A32"/>
                </a:solidFill>
                <a:latin typeface="Arial"/>
              </a:rPr>
              <a:t>Write-back into legacy MRO / ERP</a:t>
            </a:r>
          </a:p>
        </p:txBody>
      </p:sp>
      <p:sp>
        <p:nvSpPr>
          <p:cNvPr id="17436" name="Strategy 5"/>
          <p:cNvSpPr/>
          <p:nvPr/>
        </p:nvSpPr>
        <p:spPr>
          <a:xfrm>
            <a:off x="8028431" y="4663440"/>
            <a:ext cx="3794760" cy="722376"/>
          </a:xfrm>
          <a:prstGeom prst="rect">
            <a:avLst/>
          </a:prstGeom>
          <a:solidFill>
            <a:srgbClr val="E4F4EC"/>
          </a:solidFill>
          <a:ln>
            <a:noFill/>
          </a:ln>
          <a:effectLst/>
        </p:spPr>
        <p:txBody>
          <a:bodyPr rtlCol="0" anchor="ctr" wrap="square" tIns="27432" bIns="27432"/>
          <a:lstStyle/>
          <a:p>
            <a:pPr algn="l">
              <a:spcBef>
                <a:spcPts val="0"/>
              </a:spcBef>
              <a:spcAft>
                <a:spcPts val="0"/>
              </a:spcAft>
            </a:pPr>
            <a:r>
              <a:rPr sz="1050" b="0" i="0">
                <a:solidFill>
                  <a:srgbClr val="1B2733"/>
                </a:solidFill>
                <a:latin typeface="Arial"/>
              </a:rPr>
              <a:t>Start read-only; add REST write-back behind human approval gates with full audit trail</a:t>
            </a:r>
          </a:p>
        </p:txBody>
      </p:sp>
      <p:sp>
        <p:nvSpPr>
          <p:cNvPr id="17437" name="Right Arrow 17436"/>
          <p:cNvSpPr/>
          <p:nvPr/>
        </p:nvSpPr>
        <p:spPr>
          <a:xfrm>
            <a:off x="7964424" y="4910327"/>
            <a:ext cx="91440" cy="228600"/>
          </a:xfrm>
          <a:prstGeom prst="rightArrow">
            <a:avLst/>
          </a:prstGeom>
          <a:solidFill>
            <a:srgbClr val="5A6B7B"/>
          </a:solidFill>
          <a:ln>
            <a:noFill/>
          </a:ln>
          <a:effectLst/>
        </p:spPr>
        <p:txBody>
          <a:bodyPr rtlCol="0" anchor="ctr"/>
          <a:lstStyle/>
          <a:p>
            <a:pPr algn="ctr"/>
          </a:p>
        </p:txBody>
      </p:sp>
      <p:sp>
        <p:nvSpPr>
          <p:cNvPr id="17438" name="Risk 6"/>
          <p:cNvSpPr/>
          <p:nvPr/>
        </p:nvSpPr>
        <p:spPr>
          <a:xfrm>
            <a:off x="5486400" y="5440680"/>
            <a:ext cx="2468880" cy="722376"/>
          </a:xfrm>
          <a:prstGeom prst="rect">
            <a:avLst/>
          </a:prstGeom>
          <a:solidFill>
            <a:srgbClr val="FBE9E7"/>
          </a:solidFill>
          <a:ln>
            <a:noFill/>
          </a:ln>
          <a:effectLst/>
        </p:spPr>
        <p:txBody>
          <a:bodyPr rtlCol="0" anchor="ctr" wrap="square" tIns="27432" bIns="27432"/>
          <a:lstStyle/>
          <a:p>
            <a:pPr algn="l">
              <a:spcBef>
                <a:spcPts val="0"/>
              </a:spcBef>
              <a:spcAft>
                <a:spcPts val="0"/>
              </a:spcAft>
            </a:pPr>
            <a:r>
              <a:rPr sz="1150" b="1" i="0">
                <a:solidFill>
                  <a:srgbClr val="B93A32"/>
                </a:solidFill>
                <a:latin typeface="Arial"/>
              </a:rPr>
              <a:t>User adoption</a:t>
            </a:r>
          </a:p>
        </p:txBody>
      </p:sp>
      <p:sp>
        <p:nvSpPr>
          <p:cNvPr id="17439" name="Strategy 6"/>
          <p:cNvSpPr/>
          <p:nvPr/>
        </p:nvSpPr>
        <p:spPr>
          <a:xfrm>
            <a:off x="8028431" y="5440680"/>
            <a:ext cx="3794760" cy="722376"/>
          </a:xfrm>
          <a:prstGeom prst="rect">
            <a:avLst/>
          </a:prstGeom>
          <a:solidFill>
            <a:srgbClr val="E4F4EC"/>
          </a:solidFill>
          <a:ln>
            <a:noFill/>
          </a:ln>
          <a:effectLst/>
        </p:spPr>
        <p:txBody>
          <a:bodyPr rtlCol="0" anchor="ctr" wrap="square" tIns="27432" bIns="27432"/>
          <a:lstStyle/>
          <a:p>
            <a:pPr algn="l">
              <a:spcBef>
                <a:spcPts val="0"/>
              </a:spcBef>
              <a:spcAft>
                <a:spcPts val="0"/>
              </a:spcAft>
            </a:pPr>
            <a:r>
              <a:rPr sz="1050" b="0" i="0">
                <a:solidFill>
                  <a:srgbClr val="1B2733"/>
                </a:solidFill>
                <a:latin typeface="Arial"/>
              </a:rPr>
              <a:t>One decision-ready screen per persona; full loop demonstrable in 6 minutes</a:t>
            </a:r>
          </a:p>
        </p:txBody>
      </p:sp>
      <p:sp>
        <p:nvSpPr>
          <p:cNvPr id="17440" name="Right Arrow 17439"/>
          <p:cNvSpPr/>
          <p:nvPr/>
        </p:nvSpPr>
        <p:spPr>
          <a:xfrm>
            <a:off x="7964424" y="5687568"/>
            <a:ext cx="91440" cy="228600"/>
          </a:xfrm>
          <a:prstGeom prst="rightArrow">
            <a:avLst/>
          </a:prstGeom>
          <a:solidFill>
            <a:srgbClr val="5A6B7B"/>
          </a:solidFill>
          <a:ln>
            <a:noFill/>
          </a:ln>
          <a:effectLst/>
        </p:spPr>
        <p:txBody>
          <a:bodyPr rtlCol="0" anchor="ctr"/>
          <a:lstStyle/>
          <a:p>
            <a:pPr algn="ct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Rectangle 17409"/>
          <p:cNvSpPr/>
          <p:nvPr/>
        </p:nvSpPr>
        <p:spPr>
          <a:xfrm>
            <a:off x="365760" y="1234440"/>
            <a:ext cx="137160" cy="137160"/>
          </a:xfrm>
          <a:prstGeom prst="rect">
            <a:avLst/>
          </a:prstGeom>
          <a:solidFill>
            <a:srgbClr val="0070C0"/>
          </a:solidFill>
          <a:ln>
            <a:noFill/>
          </a:ln>
          <a:effectLst/>
        </p:spPr>
        <p:txBody>
          <a:bodyPr rtlCol="0" anchor="t" wrap="square" lIns="54864" rIns="54864" tIns="27432" bIns="27432"/>
          <a:lstStyle/>
          <a:p>
            <a:pPr algn="l">
              <a:spcBef>
                <a:spcPts val="0"/>
              </a:spcBef>
              <a:spcAft>
                <a:spcPts val="0"/>
              </a:spcAft>
            </a:pPr>
            <a:r>
              <a:rPr sz="1200" b="0" i="0">
                <a:solidFill>
                  <a:srgbClr val="1B2733"/>
                </a:solidFill>
                <a:latin typeface="Arial"/>
              </a:rPr>
              <a:t/>
            </a:r>
          </a:p>
        </p:txBody>
      </p:sp>
      <p:sp>
        <p:nvSpPr>
          <p:cNvPr id="17411" name="Rectangle 17410"/>
          <p:cNvSpPr/>
          <p:nvPr/>
        </p:nvSpPr>
        <p:spPr>
          <a:xfrm>
            <a:off x="566928" y="1170432"/>
            <a:ext cx="11228832" cy="274320"/>
          </a:xfrm>
          <a:prstGeom prst="rect">
            <a:avLst/>
          </a:prstGeom>
          <a:noFill/>
          <a:ln>
            <a:noFill/>
          </a:ln>
          <a:effectLst/>
        </p:spPr>
        <p:txBody>
          <a:bodyPr rtlCol="0" anchor="ctr" wrap="square" lIns="0" rIns="0" tIns="27432" bIns="27432"/>
          <a:lstStyle/>
          <a:p>
            <a:pPr algn="l">
              <a:spcBef>
                <a:spcPts val="0"/>
              </a:spcBef>
              <a:spcAft>
                <a:spcPts val="0"/>
              </a:spcAft>
            </a:pPr>
            <a:r>
              <a:rPr sz="1400" b="1" i="0">
                <a:solidFill>
                  <a:srgbClr val="0B2A4A"/>
                </a:solidFill>
                <a:latin typeface="Arial"/>
              </a:rPr>
              <a:t>Potential impact on the target audience</a:t>
            </a:r>
            <a:r>
              <a:rPr sz="1100" b="0" i="0">
                <a:solidFill>
                  <a:srgbClr val="5A6B7B"/>
                </a:solidFill>
                <a:latin typeface="Arial"/>
              </a:rPr>
              <a:t>   Duty controllers · Engineers · Maintenance controllers · Stores · Data leads · Command</a:t>
            </a:r>
          </a:p>
        </p:txBody>
      </p:sp>
      <p:sp>
        <p:nvSpPr>
          <p:cNvPr id="17412" name="Rectangle 17411"/>
          <p:cNvSpPr/>
          <p:nvPr/>
        </p:nvSpPr>
        <p:spPr>
          <a:xfrm>
            <a:off x="365760" y="1536192"/>
            <a:ext cx="5669280" cy="256032"/>
          </a:xfrm>
          <a:prstGeom prst="rect">
            <a:avLst/>
          </a:prstGeom>
          <a:noFill/>
          <a:ln>
            <a:noFill/>
          </a:ln>
          <a:effectLst/>
        </p:spPr>
        <p:txBody>
          <a:bodyPr rtlCol="0" anchor="t" wrap="square" lIns="0" rIns="0" tIns="27432" bIns="27432"/>
          <a:lstStyle/>
          <a:p>
            <a:pPr algn="l">
              <a:spcBef>
                <a:spcPts val="0"/>
              </a:spcBef>
              <a:spcAft>
                <a:spcPts val="0"/>
              </a:spcAft>
            </a:pPr>
            <a:r>
              <a:rPr sz="1150" b="1" i="0">
                <a:solidFill>
                  <a:srgbClr val="0B2A4A"/>
                </a:solidFill>
                <a:latin typeface="Arial"/>
              </a:rPr>
              <a:t>Before (reactive era) vs with AirPower, %</a:t>
            </a:r>
          </a:p>
        </p:txBody>
      </p:sp>
      <p:graphicFrame>
        <p:nvGraphicFramePr>
          <p:cNvPr id="17413" name="Impact chart"/>
          <p:cNvGraphicFramePr>
            <a:graphicFrameLocks noGrp="1"/>
          </p:cNvGraphicFramePr>
          <p:nvPr/>
        </p:nvGraphicFramePr>
        <p:xfrm>
          <a:off x="365760" y="1783080"/>
          <a:ext cx="5669280" cy="2514600"/>
        </p:xfrm>
        <a:graphic>
          <a:graphicData uri="http://schemas.openxmlformats.org/drawingml/2006/chart">
            <c:chart xmlns:c="http://schemas.openxmlformats.org/drawingml/2006/chart" r:id="rId4"/>
          </a:graphicData>
        </a:graphic>
      </p:graphicFrame>
      <p:sp>
        <p:nvSpPr>
          <p:cNvPr id="17414" name="KPI 1"/>
          <p:cNvSpPr/>
          <p:nvPr/>
        </p:nvSpPr>
        <p:spPr>
          <a:xfrm>
            <a:off x="6263640" y="1554480"/>
            <a:ext cx="1783080" cy="1280160"/>
          </a:xfrm>
          <a:prstGeom prst="roundRect">
            <a:avLst>
              <a:gd name="adj" fmla="val 10000"/>
            </a:avLst>
          </a:prstGeom>
          <a:solidFill>
            <a:srgbClr val="EAF3FB"/>
          </a:solidFill>
          <a:ln>
            <a:noFill/>
          </a:ln>
          <a:effectLst/>
        </p:spPr>
        <p:txBody>
          <a:bodyPr rtlCol="0" anchor="ctr" wrap="square" lIns="54864" rIns="54864" tIns="27432" bIns="27432"/>
          <a:lstStyle/>
          <a:p>
            <a:pPr algn="ctr">
              <a:spcBef>
                <a:spcPts val="0"/>
              </a:spcBef>
              <a:spcAft>
                <a:spcPts val="100"/>
              </a:spcAft>
            </a:pPr>
            <a:r>
              <a:rPr sz="2200" b="1" i="0">
                <a:solidFill>
                  <a:srgbClr val="0070C0"/>
                </a:solidFill>
                <a:latin typeface="Arial"/>
              </a:rPr>
              <a:t>5.3 days</a:t>
            </a:r>
          </a:p>
          <a:p>
            <a:pPr algn="ctr">
              <a:spcBef>
                <a:spcPts val="0"/>
              </a:spcBef>
              <a:spcAft>
                <a:spcPts val="100"/>
              </a:spcAft>
            </a:pPr>
            <a:r>
              <a:rPr sz="1100" b="1" i="0">
                <a:solidFill>
                  <a:srgbClr val="0B2A4A"/>
                </a:solidFill>
                <a:latin typeface="Arial"/>
              </a:rPr>
              <a:t>mean early warning</a:t>
            </a:r>
          </a:p>
          <a:p>
            <a:pPr algn="ctr">
              <a:spcBef>
                <a:spcPts val="0"/>
              </a:spcBef>
              <a:spcAft>
                <a:spcPts val="0"/>
              </a:spcAft>
            </a:pPr>
            <a:r>
              <a:rPr sz="1000" b="0" i="0">
                <a:solidFill>
                  <a:srgbClr val="5A6B7B"/>
                </a:solidFill>
                <a:latin typeface="Arial"/>
              </a:rPr>
              <a:t>was 0 – found after failure</a:t>
            </a:r>
          </a:p>
        </p:txBody>
      </p:sp>
      <p:sp>
        <p:nvSpPr>
          <p:cNvPr id="17415" name="KPI 2"/>
          <p:cNvSpPr/>
          <p:nvPr/>
        </p:nvSpPr>
        <p:spPr>
          <a:xfrm>
            <a:off x="8138159" y="1554480"/>
            <a:ext cx="1783080" cy="1280160"/>
          </a:xfrm>
          <a:prstGeom prst="roundRect">
            <a:avLst>
              <a:gd name="adj" fmla="val 10000"/>
            </a:avLst>
          </a:prstGeom>
          <a:solidFill>
            <a:srgbClr val="EAF3FB"/>
          </a:solidFill>
          <a:ln>
            <a:noFill/>
          </a:ln>
          <a:effectLst/>
        </p:spPr>
        <p:txBody>
          <a:bodyPr rtlCol="0" anchor="ctr" wrap="square" lIns="54864" rIns="54864" tIns="27432" bIns="27432"/>
          <a:lstStyle/>
          <a:p>
            <a:pPr algn="ctr">
              <a:spcBef>
                <a:spcPts val="0"/>
              </a:spcBef>
              <a:spcAft>
                <a:spcPts val="100"/>
              </a:spcAft>
            </a:pPr>
            <a:r>
              <a:rPr sz="2200" b="1" i="0">
                <a:solidFill>
                  <a:srgbClr val="0070C0"/>
                </a:solidFill>
                <a:latin typeface="Arial"/>
              </a:rPr>
              <a:t>−47%</a:t>
            </a:r>
          </a:p>
          <a:p>
            <a:pPr algn="ctr">
              <a:spcBef>
                <a:spcPts val="0"/>
              </a:spcBef>
              <a:spcAft>
                <a:spcPts val="100"/>
              </a:spcAft>
            </a:pPr>
            <a:r>
              <a:rPr sz="1100" b="1" i="0">
                <a:solidFill>
                  <a:srgbClr val="0B2A4A"/>
                </a:solidFill>
                <a:latin typeface="Arial"/>
              </a:rPr>
              <a:t>time to repair (MTTR)</a:t>
            </a:r>
          </a:p>
          <a:p>
            <a:pPr algn="ctr">
              <a:spcBef>
                <a:spcPts val="0"/>
              </a:spcBef>
              <a:spcAft>
                <a:spcPts val="0"/>
              </a:spcAft>
            </a:pPr>
            <a:r>
              <a:rPr sz="1000" b="0" i="0">
                <a:solidFill>
                  <a:srgbClr val="5A6B7B"/>
                </a:solidFill>
                <a:latin typeface="Arial"/>
              </a:rPr>
              <a:t>41 h → 21.9 h</a:t>
            </a:r>
          </a:p>
        </p:txBody>
      </p:sp>
      <p:sp>
        <p:nvSpPr>
          <p:cNvPr id="17416" name="KPI 3"/>
          <p:cNvSpPr/>
          <p:nvPr/>
        </p:nvSpPr>
        <p:spPr>
          <a:xfrm>
            <a:off x="10012680" y="1554480"/>
            <a:ext cx="1783080" cy="1280160"/>
          </a:xfrm>
          <a:prstGeom prst="roundRect">
            <a:avLst>
              <a:gd name="adj" fmla="val 10000"/>
            </a:avLst>
          </a:prstGeom>
          <a:solidFill>
            <a:srgbClr val="EAF3FB"/>
          </a:solidFill>
          <a:ln>
            <a:noFill/>
          </a:ln>
          <a:effectLst/>
        </p:spPr>
        <p:txBody>
          <a:bodyPr rtlCol="0" anchor="ctr" wrap="square" lIns="54864" rIns="54864" tIns="27432" bIns="27432"/>
          <a:lstStyle/>
          <a:p>
            <a:pPr algn="ctr">
              <a:spcBef>
                <a:spcPts val="0"/>
              </a:spcBef>
              <a:spcAft>
                <a:spcPts val="100"/>
              </a:spcAft>
            </a:pPr>
            <a:r>
              <a:rPr sz="2200" b="1" i="0">
                <a:solidFill>
                  <a:srgbClr val="0070C0"/>
                </a:solidFill>
                <a:latin typeface="Arial"/>
              </a:rPr>
              <a:t>+23%</a:t>
            </a:r>
          </a:p>
          <a:p>
            <a:pPr algn="ctr">
              <a:spcBef>
                <a:spcPts val="0"/>
              </a:spcBef>
              <a:spcAft>
                <a:spcPts val="100"/>
              </a:spcAft>
            </a:pPr>
            <a:r>
              <a:rPr sz="1100" b="1" i="0">
                <a:solidFill>
                  <a:srgbClr val="0B2A4A"/>
                </a:solidFill>
                <a:latin typeface="Arial"/>
              </a:rPr>
              <a:t>MTBF</a:t>
            </a:r>
          </a:p>
          <a:p>
            <a:pPr algn="ctr">
              <a:spcBef>
                <a:spcPts val="0"/>
              </a:spcBef>
              <a:spcAft>
                <a:spcPts val="0"/>
              </a:spcAft>
            </a:pPr>
            <a:r>
              <a:rPr sz="1000" b="0" i="0">
                <a:solidFill>
                  <a:srgbClr val="5A6B7B"/>
                </a:solidFill>
                <a:latin typeface="Arial"/>
              </a:rPr>
              <a:t>34.5 → 42.3 flight hours</a:t>
            </a:r>
          </a:p>
        </p:txBody>
      </p:sp>
      <p:sp>
        <p:nvSpPr>
          <p:cNvPr id="17417" name="KPI 4"/>
          <p:cNvSpPr/>
          <p:nvPr/>
        </p:nvSpPr>
        <p:spPr>
          <a:xfrm>
            <a:off x="6263640" y="2926080"/>
            <a:ext cx="1783080" cy="1280160"/>
          </a:xfrm>
          <a:prstGeom prst="roundRect">
            <a:avLst>
              <a:gd name="adj" fmla="val 10000"/>
            </a:avLst>
          </a:prstGeom>
          <a:solidFill>
            <a:srgbClr val="EAF3FB"/>
          </a:solidFill>
          <a:ln>
            <a:noFill/>
          </a:ln>
          <a:effectLst/>
        </p:spPr>
        <p:txBody>
          <a:bodyPr rtlCol="0" anchor="ctr" wrap="square" lIns="54864" rIns="54864" tIns="27432" bIns="27432"/>
          <a:lstStyle/>
          <a:p>
            <a:pPr algn="ctr">
              <a:spcBef>
                <a:spcPts val="0"/>
              </a:spcBef>
              <a:spcAft>
                <a:spcPts val="100"/>
              </a:spcAft>
            </a:pPr>
            <a:r>
              <a:rPr sz="2200" b="1" i="0">
                <a:solidFill>
                  <a:srgbClr val="0070C0"/>
                </a:solidFill>
                <a:latin typeface="Arial"/>
              </a:rPr>
              <a:t>5,957 h</a:t>
            </a:r>
          </a:p>
          <a:p>
            <a:pPr algn="ctr">
              <a:spcBef>
                <a:spcPts val="0"/>
              </a:spcBef>
              <a:spcAft>
                <a:spcPts val="100"/>
              </a:spcAft>
            </a:pPr>
            <a:r>
              <a:rPr sz="1100" b="1" i="0">
                <a:solidFill>
                  <a:srgbClr val="0B2A4A"/>
                </a:solidFill>
                <a:latin typeface="Arial"/>
              </a:rPr>
              <a:t>downtime avoided</a:t>
            </a:r>
          </a:p>
          <a:p>
            <a:pPr algn="ctr">
              <a:spcBef>
                <a:spcPts val="0"/>
              </a:spcBef>
              <a:spcAft>
                <a:spcPts val="0"/>
              </a:spcAft>
            </a:pPr>
            <a:r>
              <a:rPr sz="1000" b="0" i="0">
                <a:solidFill>
                  <a:srgbClr val="5A6B7B"/>
                </a:solidFill>
                <a:latin typeface="Arial"/>
              </a:rPr>
              <a:t>rolling 30 days</a:t>
            </a:r>
          </a:p>
        </p:txBody>
      </p:sp>
      <p:sp>
        <p:nvSpPr>
          <p:cNvPr id="17418" name="KPI 5"/>
          <p:cNvSpPr/>
          <p:nvPr/>
        </p:nvSpPr>
        <p:spPr>
          <a:xfrm>
            <a:off x="8138159" y="2926080"/>
            <a:ext cx="1783080" cy="1280160"/>
          </a:xfrm>
          <a:prstGeom prst="roundRect">
            <a:avLst>
              <a:gd name="adj" fmla="val 10000"/>
            </a:avLst>
          </a:prstGeom>
          <a:solidFill>
            <a:srgbClr val="EAF3FB"/>
          </a:solidFill>
          <a:ln>
            <a:noFill/>
          </a:ln>
          <a:effectLst/>
        </p:spPr>
        <p:txBody>
          <a:bodyPr rtlCol="0" anchor="ctr" wrap="square" lIns="54864" rIns="54864" tIns="27432" bIns="27432"/>
          <a:lstStyle/>
          <a:p>
            <a:pPr algn="ctr">
              <a:spcBef>
                <a:spcPts val="0"/>
              </a:spcBef>
              <a:spcAft>
                <a:spcPts val="100"/>
              </a:spcAft>
            </a:pPr>
            <a:r>
              <a:rPr sz="2200" b="1" i="0">
                <a:solidFill>
                  <a:srgbClr val="0070C0"/>
                </a:solidFill>
                <a:latin typeface="Arial"/>
              </a:rPr>
              <a:t>25</a:t>
            </a:r>
          </a:p>
          <a:p>
            <a:pPr algn="ctr">
              <a:spcBef>
                <a:spcPts val="0"/>
              </a:spcBef>
              <a:spcAft>
                <a:spcPts val="100"/>
              </a:spcAft>
            </a:pPr>
            <a:r>
              <a:rPr sz="1100" b="1" i="0">
                <a:solidFill>
                  <a:srgbClr val="0B2A4A"/>
                </a:solidFill>
                <a:latin typeface="Arial"/>
              </a:rPr>
              <a:t>failures averted</a:t>
            </a:r>
          </a:p>
          <a:p>
            <a:pPr algn="ctr">
              <a:spcBef>
                <a:spcPts val="0"/>
              </a:spcBef>
              <a:spcAft>
                <a:spcPts val="0"/>
              </a:spcAft>
            </a:pPr>
            <a:r>
              <a:rPr sz="1000" b="0" i="0">
                <a:solidFill>
                  <a:srgbClr val="5A6B7B"/>
                </a:solidFill>
                <a:latin typeface="Arial"/>
              </a:rPr>
              <a:t>rolling 30 days</a:t>
            </a:r>
          </a:p>
        </p:txBody>
      </p:sp>
      <p:sp>
        <p:nvSpPr>
          <p:cNvPr id="17419" name="KPI 6"/>
          <p:cNvSpPr/>
          <p:nvPr/>
        </p:nvSpPr>
        <p:spPr>
          <a:xfrm>
            <a:off x="10012680" y="2926080"/>
            <a:ext cx="1783080" cy="1280160"/>
          </a:xfrm>
          <a:prstGeom prst="roundRect">
            <a:avLst>
              <a:gd name="adj" fmla="val 10000"/>
            </a:avLst>
          </a:prstGeom>
          <a:solidFill>
            <a:srgbClr val="EAF3FB"/>
          </a:solidFill>
          <a:ln>
            <a:noFill/>
          </a:ln>
          <a:effectLst/>
        </p:spPr>
        <p:txBody>
          <a:bodyPr rtlCol="0" anchor="ctr" wrap="square" lIns="54864" rIns="54864" tIns="27432" bIns="27432"/>
          <a:lstStyle/>
          <a:p>
            <a:pPr algn="ctr">
              <a:spcBef>
                <a:spcPts val="0"/>
              </a:spcBef>
              <a:spcAft>
                <a:spcPts val="100"/>
              </a:spcAft>
            </a:pPr>
            <a:r>
              <a:rPr sz="2200" b="1" i="0">
                <a:solidFill>
                  <a:srgbClr val="0070C0"/>
                </a:solidFill>
                <a:latin typeface="Arial"/>
              </a:rPr>
              <a:t>−55%</a:t>
            </a:r>
          </a:p>
          <a:p>
            <a:pPr algn="ctr">
              <a:spcBef>
                <a:spcPts val="0"/>
              </a:spcBef>
              <a:spcAft>
                <a:spcPts val="100"/>
              </a:spcAft>
            </a:pPr>
            <a:r>
              <a:rPr sz="1100" b="1" i="0">
                <a:solidFill>
                  <a:srgbClr val="0B2A4A"/>
                </a:solidFill>
                <a:latin typeface="Arial"/>
              </a:rPr>
              <a:t>reactive share of work</a:t>
            </a:r>
          </a:p>
          <a:p>
            <a:pPr algn="ctr">
              <a:spcBef>
                <a:spcPts val="0"/>
              </a:spcBef>
              <a:spcAft>
                <a:spcPts val="0"/>
              </a:spcAft>
            </a:pPr>
            <a:r>
              <a:rPr sz="1000" b="0" i="0">
                <a:solidFill>
                  <a:srgbClr val="5A6B7B"/>
                </a:solidFill>
                <a:latin typeface="Arial"/>
              </a:rPr>
              <a:t>69% → 31%</a:t>
            </a:r>
          </a:p>
        </p:txBody>
      </p:sp>
      <p:sp>
        <p:nvSpPr>
          <p:cNvPr id="17420" name="Rectangle 17419"/>
          <p:cNvSpPr/>
          <p:nvPr/>
        </p:nvSpPr>
        <p:spPr>
          <a:xfrm>
            <a:off x="365760" y="4453128"/>
            <a:ext cx="137160" cy="137160"/>
          </a:xfrm>
          <a:prstGeom prst="rect">
            <a:avLst/>
          </a:prstGeom>
          <a:solidFill>
            <a:srgbClr val="0070C0"/>
          </a:solidFill>
          <a:ln>
            <a:noFill/>
          </a:ln>
          <a:effectLst/>
        </p:spPr>
        <p:txBody>
          <a:bodyPr rtlCol="0" anchor="t" wrap="square" lIns="54864" rIns="54864" tIns="27432" bIns="27432"/>
          <a:lstStyle/>
          <a:p>
            <a:pPr algn="l">
              <a:spcBef>
                <a:spcPts val="0"/>
              </a:spcBef>
              <a:spcAft>
                <a:spcPts val="0"/>
              </a:spcAft>
            </a:pPr>
            <a:r>
              <a:rPr sz="1200" b="0" i="0">
                <a:solidFill>
                  <a:srgbClr val="1B2733"/>
                </a:solidFill>
                <a:latin typeface="Arial"/>
              </a:rPr>
              <a:t/>
            </a:r>
          </a:p>
        </p:txBody>
      </p:sp>
      <p:sp>
        <p:nvSpPr>
          <p:cNvPr id="17421" name="Rectangle 17420"/>
          <p:cNvSpPr/>
          <p:nvPr/>
        </p:nvSpPr>
        <p:spPr>
          <a:xfrm>
            <a:off x="566928" y="4389120"/>
            <a:ext cx="11228832" cy="274320"/>
          </a:xfrm>
          <a:prstGeom prst="rect">
            <a:avLst/>
          </a:prstGeom>
          <a:noFill/>
          <a:ln>
            <a:noFill/>
          </a:ln>
          <a:effectLst/>
        </p:spPr>
        <p:txBody>
          <a:bodyPr rtlCol="0" anchor="ctr" wrap="square" lIns="0" rIns="0" tIns="27432" bIns="27432"/>
          <a:lstStyle/>
          <a:p>
            <a:pPr algn="l">
              <a:spcBef>
                <a:spcPts val="0"/>
              </a:spcBef>
              <a:spcAft>
                <a:spcPts val="0"/>
              </a:spcAft>
            </a:pPr>
            <a:r>
              <a:rPr sz="1400" b="1" i="0">
                <a:solidFill>
                  <a:srgbClr val="0B2A4A"/>
                </a:solidFill>
                <a:latin typeface="Arial"/>
              </a:rPr>
              <a:t>Benefits of the solution</a:t>
            </a:r>
            <a:r>
              <a:rPr sz="1100" b="0" i="0">
                <a:solidFill>
                  <a:srgbClr val="5A6B7B"/>
                </a:solidFill>
                <a:latin typeface="Arial"/>
              </a:rPr>
              <a:t>   social, economic, environmental and operational</a:t>
            </a:r>
          </a:p>
        </p:txBody>
      </p:sp>
      <p:sp>
        <p:nvSpPr>
          <p:cNvPr id="17422" name="Benefit 1 header"/>
          <p:cNvSpPr/>
          <p:nvPr/>
        </p:nvSpPr>
        <p:spPr>
          <a:xfrm>
            <a:off x="365760" y="4700016"/>
            <a:ext cx="2782062" cy="292608"/>
          </a:xfrm>
          <a:prstGeom prst="rect">
            <a:avLst/>
          </a:prstGeom>
          <a:solidFill>
            <a:srgbClr val="0070C0"/>
          </a:solidFill>
          <a:ln>
            <a:noFill/>
          </a:ln>
          <a:effectLst/>
        </p:spPr>
        <p:txBody>
          <a:bodyPr rtlCol="0" anchor="ctr" wrap="square" tIns="27432" bIns="27432"/>
          <a:lstStyle/>
          <a:p>
            <a:pPr algn="l">
              <a:spcBef>
                <a:spcPts val="0"/>
              </a:spcBef>
              <a:spcAft>
                <a:spcPts val="0"/>
              </a:spcAft>
            </a:pPr>
            <a:r>
              <a:rPr sz="1200" b="1" i="0">
                <a:solidFill>
                  <a:srgbClr val="FFFFFF"/>
                </a:solidFill>
                <a:latin typeface="Arial"/>
              </a:rPr>
              <a:t>Operational</a:t>
            </a:r>
          </a:p>
        </p:txBody>
      </p:sp>
      <p:sp>
        <p:nvSpPr>
          <p:cNvPr id="17423" name="Benefit 1"/>
          <p:cNvSpPr/>
          <p:nvPr/>
        </p:nvSpPr>
        <p:spPr>
          <a:xfrm>
            <a:off x="365760" y="4992624"/>
            <a:ext cx="2782062" cy="914400"/>
          </a:xfrm>
          <a:prstGeom prst="rect">
            <a:avLst/>
          </a:prstGeom>
          <a:solidFill>
            <a:srgbClr val="EAF3FB"/>
          </a:solidFill>
          <a:ln>
            <a:noFill/>
          </a:ln>
          <a:effectLst/>
        </p:spPr>
        <p:txBody>
          <a:bodyPr rtlCol="0" anchor="ctr" wrap="square" tIns="27432" bIns="27432"/>
          <a:lstStyle/>
          <a:p>
            <a:pPr algn="l" marL="146304" indent="-146304">
              <a:spcBef>
                <a:spcPts val="0"/>
              </a:spcBef>
              <a:spcAft>
                <a:spcPts val="200"/>
              </a:spcAft>
              <a:buClr>
                <a:srgbClr val="0070C0"/>
              </a:buClr>
              <a:buFont typeface="Arial"/>
              <a:buChar char="•"/>
            </a:pPr>
            <a:r>
              <a:rPr sz="1050" b="0" i="0">
                <a:solidFill>
                  <a:srgbClr val="1B2733"/>
                </a:solidFill>
                <a:latin typeface="Arial"/>
              </a:rPr>
              <a:t>5.3 days of warning turns emergencies into scheduled work</a:t>
            </a:r>
          </a:p>
          <a:p>
            <a:pPr algn="l" marL="146304" indent="-146304">
              <a:spcBef>
                <a:spcPts val="0"/>
              </a:spcBef>
              <a:spcAft>
                <a:spcPts val="200"/>
              </a:spcAft>
              <a:buClr>
                <a:srgbClr val="0070C0"/>
              </a:buClr>
              <a:buFont typeface="Arial"/>
              <a:buChar char="•"/>
            </a:pPr>
            <a:r>
              <a:rPr sz="1050" b="0" i="0">
                <a:solidFill>
                  <a:srgbClr val="1B2733"/>
                </a:solidFill>
                <a:latin typeface="Arial"/>
              </a:rPr>
              <a:t>Idle-aircraft utilisation quantified</a:t>
            </a:r>
          </a:p>
        </p:txBody>
      </p:sp>
      <p:sp>
        <p:nvSpPr>
          <p:cNvPr id="17424" name="Benefit 2 header"/>
          <p:cNvSpPr/>
          <p:nvPr/>
        </p:nvSpPr>
        <p:spPr>
          <a:xfrm>
            <a:off x="3257550" y="4700016"/>
            <a:ext cx="2782062" cy="292608"/>
          </a:xfrm>
          <a:prstGeom prst="rect">
            <a:avLst/>
          </a:prstGeom>
          <a:solidFill>
            <a:srgbClr val="1E8E5A"/>
          </a:solidFill>
          <a:ln>
            <a:noFill/>
          </a:ln>
          <a:effectLst/>
        </p:spPr>
        <p:txBody>
          <a:bodyPr rtlCol="0" anchor="ctr" wrap="square" tIns="27432" bIns="27432"/>
          <a:lstStyle/>
          <a:p>
            <a:pPr algn="l">
              <a:spcBef>
                <a:spcPts val="0"/>
              </a:spcBef>
              <a:spcAft>
                <a:spcPts val="0"/>
              </a:spcAft>
            </a:pPr>
            <a:r>
              <a:rPr sz="1200" b="1" i="0">
                <a:solidFill>
                  <a:srgbClr val="FFFFFF"/>
                </a:solidFill>
                <a:latin typeface="Arial"/>
              </a:rPr>
              <a:t>Economic</a:t>
            </a:r>
          </a:p>
        </p:txBody>
      </p:sp>
      <p:sp>
        <p:nvSpPr>
          <p:cNvPr id="17425" name="Benefit 2"/>
          <p:cNvSpPr/>
          <p:nvPr/>
        </p:nvSpPr>
        <p:spPr>
          <a:xfrm>
            <a:off x="3257550" y="4992624"/>
            <a:ext cx="2782062" cy="914400"/>
          </a:xfrm>
          <a:prstGeom prst="rect">
            <a:avLst/>
          </a:prstGeom>
          <a:solidFill>
            <a:srgbClr val="EAF3FB"/>
          </a:solidFill>
          <a:ln>
            <a:noFill/>
          </a:ln>
          <a:effectLst/>
        </p:spPr>
        <p:txBody>
          <a:bodyPr rtlCol="0" anchor="ctr" wrap="square" tIns="27432" bIns="27432"/>
          <a:lstStyle/>
          <a:p>
            <a:pPr algn="l" marL="146304" indent="-146304">
              <a:spcBef>
                <a:spcPts val="0"/>
              </a:spcBef>
              <a:spcAft>
                <a:spcPts val="200"/>
              </a:spcAft>
              <a:buClr>
                <a:srgbClr val="1E8E5A"/>
              </a:buClr>
              <a:buFont typeface="Arial"/>
              <a:buChar char="•"/>
            </a:pPr>
            <a:r>
              <a:rPr sz="1050" b="0" i="0">
                <a:solidFill>
                  <a:srgbClr val="1B2733"/>
                </a:solidFill>
                <a:latin typeface="Arial"/>
              </a:rPr>
              <a:t>Parts indented before AOG; long-lead items flagged early</a:t>
            </a:r>
          </a:p>
          <a:p>
            <a:pPr algn="l" marL="146304" indent="-146304">
              <a:spcBef>
                <a:spcPts val="0"/>
              </a:spcBef>
              <a:spcAft>
                <a:spcPts val="200"/>
              </a:spcAft>
              <a:buClr>
                <a:srgbClr val="1E8E5A"/>
              </a:buClr>
              <a:buFont typeface="Arial"/>
              <a:buChar char="•"/>
            </a:pPr>
            <a:r>
              <a:rPr sz="1050" b="0" i="0">
                <a:solidFill>
                  <a:srgbClr val="1B2733"/>
                </a:solidFill>
                <a:latin typeface="Arial"/>
              </a:rPr>
              <a:t>Repairs slotted into servicing due anyway</a:t>
            </a:r>
          </a:p>
        </p:txBody>
      </p:sp>
      <p:sp>
        <p:nvSpPr>
          <p:cNvPr id="17426" name="Benefit 3 header"/>
          <p:cNvSpPr/>
          <p:nvPr/>
        </p:nvSpPr>
        <p:spPr>
          <a:xfrm>
            <a:off x="6149340" y="4700016"/>
            <a:ext cx="2782062" cy="292608"/>
          </a:xfrm>
          <a:prstGeom prst="rect">
            <a:avLst/>
          </a:prstGeom>
          <a:solidFill>
            <a:srgbClr val="0B2A4A"/>
          </a:solidFill>
          <a:ln>
            <a:noFill/>
          </a:ln>
          <a:effectLst/>
        </p:spPr>
        <p:txBody>
          <a:bodyPr rtlCol="0" anchor="ctr" wrap="square" tIns="27432" bIns="27432"/>
          <a:lstStyle/>
          <a:p>
            <a:pPr algn="l">
              <a:spcBef>
                <a:spcPts val="0"/>
              </a:spcBef>
              <a:spcAft>
                <a:spcPts val="0"/>
              </a:spcAft>
            </a:pPr>
            <a:r>
              <a:rPr sz="1200" b="1" i="0">
                <a:solidFill>
                  <a:srgbClr val="FFFFFF"/>
                </a:solidFill>
                <a:latin typeface="Arial"/>
              </a:rPr>
              <a:t>Safety &amp; social</a:t>
            </a:r>
          </a:p>
        </p:txBody>
      </p:sp>
      <p:sp>
        <p:nvSpPr>
          <p:cNvPr id="17427" name="Benefit 3"/>
          <p:cNvSpPr/>
          <p:nvPr/>
        </p:nvSpPr>
        <p:spPr>
          <a:xfrm>
            <a:off x="6149340" y="4992624"/>
            <a:ext cx="2782062" cy="914400"/>
          </a:xfrm>
          <a:prstGeom prst="rect">
            <a:avLst/>
          </a:prstGeom>
          <a:solidFill>
            <a:srgbClr val="EAF3FB"/>
          </a:solidFill>
          <a:ln>
            <a:noFill/>
          </a:ln>
          <a:effectLst/>
        </p:spPr>
        <p:txBody>
          <a:bodyPr rtlCol="0" anchor="ctr" wrap="square" tIns="27432" bIns="27432"/>
          <a:lstStyle/>
          <a:p>
            <a:pPr algn="l" marL="146304" indent="-146304">
              <a:spcBef>
                <a:spcPts val="0"/>
              </a:spcBef>
              <a:spcAft>
                <a:spcPts val="200"/>
              </a:spcAft>
              <a:buClr>
                <a:srgbClr val="0B2A4A"/>
              </a:buClr>
              <a:buFont typeface="Arial"/>
              <a:buChar char="•"/>
            </a:pPr>
            <a:r>
              <a:rPr sz="1050" b="0" i="0">
                <a:solidFill>
                  <a:srgbClr val="1B2733"/>
                </a:solidFill>
                <a:latin typeface="Arial"/>
              </a:rPr>
              <a:t>Fatigue and engine-life limits flagged before incidents</a:t>
            </a:r>
          </a:p>
          <a:p>
            <a:pPr algn="l" marL="146304" indent="-146304">
              <a:spcBef>
                <a:spcPts val="0"/>
              </a:spcBef>
              <a:spcAft>
                <a:spcPts val="200"/>
              </a:spcAft>
              <a:buClr>
                <a:srgbClr val="0B2A4A"/>
              </a:buClr>
              <a:buFont typeface="Arial"/>
              <a:buChar char="•"/>
            </a:pPr>
            <a:r>
              <a:rPr sz="1050" b="0" i="0">
                <a:solidFill>
                  <a:srgbClr val="1B2733"/>
                </a:solidFill>
                <a:latin typeface="Arial"/>
              </a:rPr>
              <a:t>Audit trail keeps knowledge across crew rotation</a:t>
            </a:r>
          </a:p>
        </p:txBody>
      </p:sp>
      <p:sp>
        <p:nvSpPr>
          <p:cNvPr id="17428" name="Benefit 4 header"/>
          <p:cNvSpPr/>
          <p:nvPr/>
        </p:nvSpPr>
        <p:spPr>
          <a:xfrm>
            <a:off x="9041130" y="4700016"/>
            <a:ext cx="2782062" cy="292608"/>
          </a:xfrm>
          <a:prstGeom prst="rect">
            <a:avLst/>
          </a:prstGeom>
          <a:solidFill>
            <a:srgbClr val="2E7D5B"/>
          </a:solidFill>
          <a:ln>
            <a:noFill/>
          </a:ln>
          <a:effectLst/>
        </p:spPr>
        <p:txBody>
          <a:bodyPr rtlCol="0" anchor="ctr" wrap="square" tIns="27432" bIns="27432"/>
          <a:lstStyle/>
          <a:p>
            <a:pPr algn="l">
              <a:spcBef>
                <a:spcPts val="0"/>
              </a:spcBef>
              <a:spcAft>
                <a:spcPts val="0"/>
              </a:spcAft>
            </a:pPr>
            <a:r>
              <a:rPr sz="1200" b="1" i="0">
                <a:solidFill>
                  <a:srgbClr val="FFFFFF"/>
                </a:solidFill>
                <a:latin typeface="Arial"/>
              </a:rPr>
              <a:t>Environmental</a:t>
            </a:r>
          </a:p>
        </p:txBody>
      </p:sp>
      <p:sp>
        <p:nvSpPr>
          <p:cNvPr id="17429" name="Benefit 4"/>
          <p:cNvSpPr/>
          <p:nvPr/>
        </p:nvSpPr>
        <p:spPr>
          <a:xfrm>
            <a:off x="9041130" y="4992624"/>
            <a:ext cx="2782062" cy="914400"/>
          </a:xfrm>
          <a:prstGeom prst="rect">
            <a:avLst/>
          </a:prstGeom>
          <a:solidFill>
            <a:srgbClr val="EAF3FB"/>
          </a:solidFill>
          <a:ln>
            <a:noFill/>
          </a:ln>
          <a:effectLst/>
        </p:spPr>
        <p:txBody>
          <a:bodyPr rtlCol="0" anchor="ctr" wrap="square" tIns="27432" bIns="27432"/>
          <a:lstStyle/>
          <a:p>
            <a:pPr algn="l" marL="146304" indent="-146304">
              <a:spcBef>
                <a:spcPts val="0"/>
              </a:spcBef>
              <a:spcAft>
                <a:spcPts val="200"/>
              </a:spcAft>
              <a:buClr>
                <a:srgbClr val="2E7D5B"/>
              </a:buClr>
              <a:buFont typeface="Arial"/>
              <a:buChar char="•"/>
            </a:pPr>
            <a:r>
              <a:rPr sz="1050" b="0" i="0">
                <a:solidFill>
                  <a:srgbClr val="1B2733"/>
                </a:solidFill>
                <a:latin typeface="Arial"/>
              </a:rPr>
              <a:t>Condition-based replacement, fewer scrapped serviceable parts</a:t>
            </a:r>
          </a:p>
          <a:p>
            <a:pPr algn="l" marL="146304" indent="-146304">
              <a:spcBef>
                <a:spcPts val="0"/>
              </a:spcBef>
              <a:spcAft>
                <a:spcPts val="200"/>
              </a:spcAft>
              <a:buClr>
                <a:srgbClr val="2E7D5B"/>
              </a:buClr>
              <a:buFont typeface="Arial"/>
              <a:buChar char="•"/>
            </a:pPr>
            <a:r>
              <a:rPr sz="1050" b="0" i="0">
                <a:solidFill>
                  <a:srgbClr val="1B2733"/>
                </a:solidFill>
                <a:latin typeface="Arial"/>
              </a:rPr>
              <a:t>Fewer cancelled sorties and ferry flights</a:t>
            </a:r>
          </a:p>
        </p:txBody>
      </p:sp>
      <p:sp>
        <p:nvSpPr>
          <p:cNvPr id="17430" name="Footnote"/>
          <p:cNvSpPr/>
          <p:nvPr/>
        </p:nvSpPr>
        <p:spPr>
          <a:xfrm>
            <a:off x="365760" y="5989320"/>
            <a:ext cx="11430000" cy="274320"/>
          </a:xfrm>
          <a:prstGeom prst="rect">
            <a:avLst/>
          </a:prstGeom>
          <a:noFill/>
          <a:ln>
            <a:noFill/>
          </a:ln>
          <a:effectLst/>
        </p:spPr>
        <p:txBody>
          <a:bodyPr rtlCol="0" anchor="ctr" wrap="square" lIns="0" rIns="0" tIns="27432" bIns="27432"/>
          <a:lstStyle/>
          <a:p>
            <a:pPr algn="l">
              <a:spcBef>
                <a:spcPts val="0"/>
              </a:spcBef>
              <a:spcAft>
                <a:spcPts val="0"/>
              </a:spcAft>
            </a:pPr>
            <a:r>
              <a:rPr sz="1000" b="0" i="1">
                <a:solidFill>
                  <a:srgbClr val="5A6B7B"/>
                </a:solidFill>
                <a:latin typeface="Arial"/>
              </a:rPr>
              <a:t>Figures come from the prototype's simulated 20-airframe fleet; the baseline is the reactive era. They show the mechanism, not a field measurement.</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Rectangle 17409"/>
          <p:cNvSpPr/>
          <p:nvPr/>
        </p:nvSpPr>
        <p:spPr>
          <a:xfrm>
            <a:off x="365760" y="1234440"/>
            <a:ext cx="137160" cy="137160"/>
          </a:xfrm>
          <a:prstGeom prst="rect">
            <a:avLst/>
          </a:prstGeom>
          <a:solidFill>
            <a:srgbClr val="0070C0"/>
          </a:solidFill>
          <a:ln>
            <a:noFill/>
          </a:ln>
          <a:effectLst/>
        </p:spPr>
        <p:txBody>
          <a:bodyPr rtlCol="0" anchor="t" wrap="square" lIns="54864" rIns="54864" tIns="27432" bIns="27432"/>
          <a:lstStyle/>
          <a:p>
            <a:pPr algn="l">
              <a:spcBef>
                <a:spcPts val="0"/>
              </a:spcBef>
              <a:spcAft>
                <a:spcPts val="0"/>
              </a:spcAft>
            </a:pPr>
            <a:r>
              <a:rPr sz="1200" b="0" i="0">
                <a:solidFill>
                  <a:srgbClr val="1B2733"/>
                </a:solidFill>
                <a:latin typeface="Arial"/>
              </a:rPr>
              <a:t/>
            </a:r>
          </a:p>
        </p:txBody>
      </p:sp>
      <p:sp>
        <p:nvSpPr>
          <p:cNvPr id="17411" name="Rectangle 17410"/>
          <p:cNvSpPr/>
          <p:nvPr/>
        </p:nvSpPr>
        <p:spPr>
          <a:xfrm>
            <a:off x="566928" y="1170432"/>
            <a:ext cx="11228832" cy="274320"/>
          </a:xfrm>
          <a:prstGeom prst="rect">
            <a:avLst/>
          </a:prstGeom>
          <a:noFill/>
          <a:ln>
            <a:noFill/>
          </a:ln>
          <a:effectLst/>
        </p:spPr>
        <p:txBody>
          <a:bodyPr rtlCol="0" anchor="ctr" wrap="square" lIns="0" rIns="0" tIns="27432" bIns="27432"/>
          <a:lstStyle/>
          <a:p>
            <a:pPr algn="l">
              <a:spcBef>
                <a:spcPts val="0"/>
              </a:spcBef>
              <a:spcAft>
                <a:spcPts val="0"/>
              </a:spcAft>
            </a:pPr>
            <a:r>
              <a:rPr sz="1400" b="1" i="0">
                <a:solidFill>
                  <a:srgbClr val="0B2A4A"/>
                </a:solidFill>
                <a:latin typeface="Arial"/>
              </a:rPr>
              <a:t>Details / Links of the reference and research work</a:t>
            </a:r>
          </a:p>
        </p:txBody>
      </p:sp>
      <p:sp>
        <p:nvSpPr>
          <p:cNvPr id="17412" name="Ref header Standards &amp; doctrine"/>
          <p:cNvSpPr/>
          <p:nvPr/>
        </p:nvSpPr>
        <p:spPr>
          <a:xfrm>
            <a:off x="365760" y="1536192"/>
            <a:ext cx="2743200" cy="329184"/>
          </a:xfrm>
          <a:prstGeom prst="rect">
            <a:avLst/>
          </a:prstGeom>
          <a:solidFill>
            <a:srgbClr val="0070C0"/>
          </a:solidFill>
          <a:ln>
            <a:noFill/>
          </a:ln>
          <a:effectLst/>
        </p:spPr>
        <p:txBody>
          <a:bodyPr rtlCol="0" anchor="ctr" wrap="square" lIns="109728" rIns="109728" tIns="27432" bIns="27432"/>
          <a:lstStyle/>
          <a:p>
            <a:pPr algn="l">
              <a:spcBef>
                <a:spcPts val="0"/>
              </a:spcBef>
              <a:spcAft>
                <a:spcPts val="0"/>
              </a:spcAft>
            </a:pPr>
            <a:r>
              <a:rPr sz="1250" b="1" i="0">
                <a:solidFill>
                  <a:srgbClr val="FFFFFF"/>
                </a:solidFill>
                <a:latin typeface="Arial"/>
              </a:rPr>
              <a:t>Standards &amp; doctrine</a:t>
            </a:r>
          </a:p>
        </p:txBody>
      </p:sp>
      <p:sp>
        <p:nvSpPr>
          <p:cNvPr id="17413" name="Ref body Standards &amp; doctrine"/>
          <p:cNvSpPr/>
          <p:nvPr/>
        </p:nvSpPr>
        <p:spPr>
          <a:xfrm>
            <a:off x="365760" y="1865376"/>
            <a:ext cx="2743200" cy="3611880"/>
          </a:xfrm>
          <a:prstGeom prst="rect">
            <a:avLst/>
          </a:prstGeom>
          <a:solidFill>
            <a:srgbClr val="EAF3FB"/>
          </a:solidFill>
          <a:ln>
            <a:noFill/>
          </a:ln>
          <a:effectLst/>
        </p:spPr>
        <p:txBody>
          <a:bodyPr rtlCol="0" anchor="t" wrap="square" lIns="109728" rIns="109728" tIns="27432" bIns="27432"/>
          <a:lstStyle/>
          <a:p>
            <a:pPr algn="l">
              <a:spcBef>
                <a:spcPts val="0"/>
              </a:spcBef>
              <a:spcAft>
                <a:spcPts val="100"/>
              </a:spcAft>
            </a:pPr>
            <a:r>
              <a:rPr sz="1200" b="1" i="0">
                <a:solidFill>
                  <a:srgbClr val="0B2A4A"/>
                </a:solidFill>
                <a:latin typeface="Arial"/>
              </a:rPr>
              <a:t>ATA iSpec 2200</a:t>
            </a:r>
          </a:p>
          <a:p>
            <a:pPr algn="l">
              <a:spcBef>
                <a:spcPts val="0"/>
              </a:spcBef>
              <a:spcAft>
                <a:spcPts val="1100"/>
              </a:spcAft>
            </a:pPr>
            <a:r>
              <a:rPr sz="1150" b="0" i="0">
                <a:solidFill>
                  <a:srgbClr val="5A6B7B"/>
                </a:solidFill>
                <a:latin typeface="Arial"/>
              </a:rPr>
              <a:t>Air-transport maintenance information standard → schema for our unified tech record</a:t>
            </a:r>
          </a:p>
          <a:p>
            <a:pPr algn="l">
              <a:spcBef>
                <a:spcPts val="0"/>
              </a:spcBef>
              <a:spcAft>
                <a:spcPts val="100"/>
              </a:spcAft>
            </a:pPr>
            <a:r>
              <a:rPr sz="1200" b="1" i="0">
                <a:solidFill>
                  <a:srgbClr val="0B2A4A"/>
                </a:solidFill>
                <a:latin typeface="Arial"/>
              </a:rPr>
              <a:t>MIMOSA OSA-CBM · ISO 13374</a:t>
            </a:r>
          </a:p>
          <a:p>
            <a:pPr algn="l">
              <a:spcBef>
                <a:spcPts val="0"/>
              </a:spcBef>
              <a:spcAft>
                <a:spcPts val="1100"/>
              </a:spcAft>
            </a:pPr>
            <a:r>
              <a:rPr sz="1150" b="0" i="0">
                <a:solidFill>
                  <a:srgbClr val="5A6B7B"/>
                </a:solidFill>
                <a:latin typeface="Arial"/>
              </a:rPr>
              <a:t>Open condition-monitoring architecture → our detect / assess / advise layering</a:t>
            </a:r>
          </a:p>
          <a:p>
            <a:pPr algn="l">
              <a:spcBef>
                <a:spcPts val="0"/>
              </a:spcBef>
              <a:spcAft>
                <a:spcPts val="100"/>
              </a:spcAft>
            </a:pPr>
            <a:r>
              <a:rPr sz="1200" b="1" i="0">
                <a:solidFill>
                  <a:srgbClr val="0B2A4A"/>
                </a:solidFill>
                <a:latin typeface="Arial"/>
              </a:rPr>
              <a:t>CBM+ (US DoD, DoDI 4151.22)</a:t>
            </a:r>
          </a:p>
          <a:p>
            <a:pPr algn="l">
              <a:spcBef>
                <a:spcPts val="0"/>
              </a:spcBef>
              <a:spcAft>
                <a:spcPts val="1100"/>
              </a:spcAft>
            </a:pPr>
            <a:r>
              <a:rPr sz="1150" b="0" i="0">
                <a:solidFill>
                  <a:srgbClr val="5A6B7B"/>
                </a:solidFill>
                <a:latin typeface="Arial"/>
              </a:rPr>
              <a:t>Condition-based maintenance doctrine → case for predictive over time-based upkeep</a:t>
            </a:r>
          </a:p>
          <a:p>
            <a:pPr algn="l">
              <a:spcBef>
                <a:spcPts val="0"/>
              </a:spcBef>
              <a:spcAft>
                <a:spcPts val="100"/>
              </a:spcAft>
            </a:pPr>
            <a:r>
              <a:rPr sz="1200" b="1" i="0">
                <a:solidFill>
                  <a:srgbClr val="0B2A4A"/>
                </a:solidFill>
                <a:latin typeface="Arial"/>
              </a:rPr>
              <a:t>ISO 55000</a:t>
            </a:r>
          </a:p>
          <a:p>
            <a:pPr algn="l">
              <a:spcBef>
                <a:spcPts val="0"/>
              </a:spcBef>
              <a:spcAft>
                <a:spcPts val="1100"/>
              </a:spcAft>
            </a:pPr>
            <a:r>
              <a:rPr sz="1150" b="0" i="0">
                <a:solidFill>
                  <a:srgbClr val="5A6B7B"/>
                </a:solidFill>
                <a:latin typeface="Arial"/>
              </a:rPr>
              <a:t>Asset-management standard → lifecycle framing of availability and utilisation</a:t>
            </a:r>
          </a:p>
        </p:txBody>
      </p:sp>
      <p:sp>
        <p:nvSpPr>
          <p:cNvPr id="17414" name="Ref header Algorithms &amp; research"/>
          <p:cNvSpPr/>
          <p:nvPr/>
        </p:nvSpPr>
        <p:spPr>
          <a:xfrm>
            <a:off x="3200400" y="1536192"/>
            <a:ext cx="3017520" cy="329184"/>
          </a:xfrm>
          <a:prstGeom prst="rect">
            <a:avLst/>
          </a:prstGeom>
          <a:solidFill>
            <a:srgbClr val="0B2A4A"/>
          </a:solidFill>
          <a:ln>
            <a:noFill/>
          </a:ln>
          <a:effectLst/>
        </p:spPr>
        <p:txBody>
          <a:bodyPr rtlCol="0" anchor="ctr" wrap="square" lIns="109728" rIns="109728" tIns="27432" bIns="27432"/>
          <a:lstStyle/>
          <a:p>
            <a:pPr algn="l">
              <a:spcBef>
                <a:spcPts val="0"/>
              </a:spcBef>
              <a:spcAft>
                <a:spcPts val="0"/>
              </a:spcAft>
            </a:pPr>
            <a:r>
              <a:rPr sz="1250" b="1" i="0">
                <a:solidFill>
                  <a:srgbClr val="FFFFFF"/>
                </a:solidFill>
                <a:latin typeface="Arial"/>
              </a:rPr>
              <a:t>Algorithms &amp; research</a:t>
            </a:r>
          </a:p>
        </p:txBody>
      </p:sp>
      <p:sp>
        <p:nvSpPr>
          <p:cNvPr id="17415" name="Ref body Algorithms &amp; research"/>
          <p:cNvSpPr/>
          <p:nvPr/>
        </p:nvSpPr>
        <p:spPr>
          <a:xfrm>
            <a:off x="3200400" y="1865376"/>
            <a:ext cx="3017520" cy="3611880"/>
          </a:xfrm>
          <a:prstGeom prst="rect">
            <a:avLst/>
          </a:prstGeom>
          <a:solidFill>
            <a:srgbClr val="EAF3FB"/>
          </a:solidFill>
          <a:ln>
            <a:noFill/>
          </a:ln>
          <a:effectLst/>
        </p:spPr>
        <p:txBody>
          <a:bodyPr rtlCol="0" anchor="t" wrap="square" lIns="109728" rIns="109728" tIns="27432" bIns="27432"/>
          <a:lstStyle/>
          <a:p>
            <a:pPr algn="l">
              <a:spcBef>
                <a:spcPts val="0"/>
              </a:spcBef>
              <a:spcAft>
                <a:spcPts val="100"/>
              </a:spcAft>
            </a:pPr>
            <a:r>
              <a:rPr sz="1200" b="1" i="0">
                <a:solidFill>
                  <a:srgbClr val="0B2A4A"/>
                </a:solidFill>
                <a:latin typeface="Arial"/>
              </a:rPr>
              <a:t>Page (1954), Biometrika</a:t>
            </a:r>
          </a:p>
          <a:p>
            <a:pPr algn="l">
              <a:spcBef>
                <a:spcPts val="0"/>
              </a:spcBef>
              <a:spcAft>
                <a:spcPts val="1100"/>
              </a:spcAft>
            </a:pPr>
            <a:r>
              <a:rPr sz="1150" b="0" i="0">
                <a:solidFill>
                  <a:srgbClr val="5A6B7B"/>
                </a:solidFill>
                <a:latin typeface="Arial"/>
              </a:rPr>
              <a:t>“Continuous inspection schemes” → CUSUM change detection</a:t>
            </a:r>
          </a:p>
          <a:p>
            <a:pPr algn="l">
              <a:spcBef>
                <a:spcPts val="0"/>
              </a:spcBef>
              <a:spcAft>
                <a:spcPts val="100"/>
              </a:spcAft>
            </a:pPr>
            <a:r>
              <a:rPr sz="1200" b="1" i="0">
                <a:solidFill>
                  <a:srgbClr val="0B2A4A"/>
                </a:solidFill>
                <a:latin typeface="Arial"/>
              </a:rPr>
              <a:t>Roberts (1959), Technometrics</a:t>
            </a:r>
          </a:p>
          <a:p>
            <a:pPr algn="l">
              <a:spcBef>
                <a:spcPts val="0"/>
              </a:spcBef>
              <a:spcAft>
                <a:spcPts val="1100"/>
              </a:spcAft>
            </a:pPr>
            <a:r>
              <a:rPr sz="1150" b="0" i="0">
                <a:solidFill>
                  <a:srgbClr val="5A6B7B"/>
                </a:solidFill>
                <a:latin typeface="Arial"/>
              </a:rPr>
              <a:t>“Control chart tests based on geometric moving averages” → EWMA baseline</a:t>
            </a:r>
          </a:p>
          <a:p>
            <a:pPr algn="l">
              <a:spcBef>
                <a:spcPts val="0"/>
              </a:spcBef>
              <a:spcAft>
                <a:spcPts val="100"/>
              </a:spcAft>
            </a:pPr>
            <a:r>
              <a:rPr sz="1200" b="1" i="0">
                <a:solidFill>
                  <a:srgbClr val="0B2A4A"/>
                </a:solidFill>
                <a:latin typeface="Arial"/>
              </a:rPr>
              <a:t>Saxena et al. (2008), PHM08</a:t>
            </a:r>
          </a:p>
          <a:p>
            <a:pPr algn="l">
              <a:spcBef>
                <a:spcPts val="0"/>
              </a:spcBef>
              <a:spcAft>
                <a:spcPts val="1100"/>
              </a:spcAft>
            </a:pPr>
            <a:r>
              <a:rPr sz="1150" b="0" i="0">
                <a:solidFill>
                  <a:srgbClr val="5A6B7B"/>
                </a:solidFill>
                <a:latin typeface="Arial"/>
              </a:rPr>
              <a:t>NASA C-MAPSS run-to-failure data → benchmark for roadmap RUL models</a:t>
            </a:r>
          </a:p>
          <a:p>
            <a:pPr algn="l">
              <a:spcBef>
                <a:spcPts val="0"/>
              </a:spcBef>
              <a:spcAft>
                <a:spcPts val="100"/>
              </a:spcAft>
            </a:pPr>
            <a:r>
              <a:rPr sz="1200" b="1" i="0">
                <a:solidFill>
                  <a:srgbClr val="0B2A4A"/>
                </a:solidFill>
                <a:latin typeface="Arial"/>
              </a:rPr>
              <a:t>Grieves &amp; Vickers (2017)</a:t>
            </a:r>
          </a:p>
          <a:p>
            <a:pPr algn="l">
              <a:spcBef>
                <a:spcPts val="0"/>
              </a:spcBef>
              <a:spcAft>
                <a:spcPts val="1100"/>
              </a:spcAft>
            </a:pPr>
            <a:r>
              <a:rPr sz="1150" b="0" i="0">
                <a:solidFill>
                  <a:srgbClr val="5A6B7B"/>
                </a:solidFill>
                <a:latin typeface="Arial"/>
              </a:rPr>
              <a:t>Digital twin concept → airframe replica + life-limited parts</a:t>
            </a:r>
          </a:p>
        </p:txBody>
      </p:sp>
      <p:sp>
        <p:nvSpPr>
          <p:cNvPr id="17416" name="Ref header Industry lessons"/>
          <p:cNvSpPr/>
          <p:nvPr/>
        </p:nvSpPr>
        <p:spPr>
          <a:xfrm>
            <a:off x="6309360" y="1536192"/>
            <a:ext cx="2743200" cy="329184"/>
          </a:xfrm>
          <a:prstGeom prst="rect">
            <a:avLst/>
          </a:prstGeom>
          <a:solidFill>
            <a:srgbClr val="2E7D5B"/>
          </a:solidFill>
          <a:ln>
            <a:noFill/>
          </a:ln>
          <a:effectLst/>
        </p:spPr>
        <p:txBody>
          <a:bodyPr rtlCol="0" anchor="ctr" wrap="square" lIns="109728" rIns="109728" tIns="27432" bIns="27432"/>
          <a:lstStyle/>
          <a:p>
            <a:pPr algn="l">
              <a:spcBef>
                <a:spcPts val="0"/>
              </a:spcBef>
              <a:spcAft>
                <a:spcPts val="0"/>
              </a:spcAft>
            </a:pPr>
            <a:r>
              <a:rPr sz="1250" b="1" i="0">
                <a:solidFill>
                  <a:srgbClr val="FFFFFF"/>
                </a:solidFill>
                <a:latin typeface="Arial"/>
              </a:rPr>
              <a:t>Industry lessons</a:t>
            </a:r>
          </a:p>
        </p:txBody>
      </p:sp>
      <p:sp>
        <p:nvSpPr>
          <p:cNvPr id="17417" name="Ref body Industry lessons"/>
          <p:cNvSpPr/>
          <p:nvPr/>
        </p:nvSpPr>
        <p:spPr>
          <a:xfrm>
            <a:off x="6309360" y="1865376"/>
            <a:ext cx="2743200" cy="3611880"/>
          </a:xfrm>
          <a:prstGeom prst="rect">
            <a:avLst/>
          </a:prstGeom>
          <a:solidFill>
            <a:srgbClr val="EAF3FB"/>
          </a:solidFill>
          <a:ln>
            <a:noFill/>
          </a:ln>
          <a:effectLst/>
        </p:spPr>
        <p:txBody>
          <a:bodyPr rtlCol="0" anchor="t" wrap="square" lIns="109728" rIns="109728" tIns="27432" bIns="27432"/>
          <a:lstStyle/>
          <a:p>
            <a:pPr algn="l">
              <a:spcBef>
                <a:spcPts val="0"/>
              </a:spcBef>
              <a:spcAft>
                <a:spcPts val="100"/>
              </a:spcAft>
            </a:pPr>
            <a:r>
              <a:rPr sz="1200" b="1" i="0">
                <a:solidFill>
                  <a:srgbClr val="0B2A4A"/>
                </a:solidFill>
                <a:latin typeface="Arial"/>
              </a:rPr>
              <a:t>F-35 ALIS → ODIN</a:t>
            </a:r>
          </a:p>
          <a:p>
            <a:pPr algn="l">
              <a:spcBef>
                <a:spcPts val="0"/>
              </a:spcBef>
              <a:spcAft>
                <a:spcPts val="1100"/>
              </a:spcAft>
            </a:pPr>
            <a:r>
              <a:rPr sz="1150" b="0" i="0">
                <a:solidFill>
                  <a:srgbClr val="5A6B7B"/>
                </a:solidFill>
                <a:latin typeface="Arial"/>
              </a:rPr>
              <a:t>Closed, monolithic logistics system replaced → we choose open standards and data ownership</a:t>
            </a:r>
          </a:p>
          <a:p>
            <a:pPr algn="l">
              <a:spcBef>
                <a:spcPts val="0"/>
              </a:spcBef>
              <a:spcAft>
                <a:spcPts val="100"/>
              </a:spcAft>
            </a:pPr>
            <a:r>
              <a:rPr sz="1200" b="1" i="0">
                <a:solidFill>
                  <a:srgbClr val="0B2A4A"/>
                </a:solidFill>
                <a:latin typeface="Arial"/>
              </a:rPr>
              <a:t>IAF IMMOLS &amp; e-MMS</a:t>
            </a:r>
          </a:p>
          <a:p>
            <a:pPr algn="l">
              <a:spcBef>
                <a:spcPts val="0"/>
              </a:spcBef>
              <a:spcAft>
                <a:spcPts val="1100"/>
              </a:spcAft>
            </a:pPr>
            <a:r>
              <a:rPr sz="1150" b="0" i="0">
                <a:solidFill>
                  <a:srgbClr val="5A6B7B"/>
                </a:solidFill>
                <a:latin typeface="Arial"/>
              </a:rPr>
              <a:t>Supply ERP and maintenance system → integration targets for write-back</a:t>
            </a:r>
          </a:p>
          <a:p>
            <a:pPr algn="l">
              <a:spcBef>
                <a:spcPts val="0"/>
              </a:spcBef>
              <a:spcAft>
                <a:spcPts val="100"/>
              </a:spcAft>
            </a:pPr>
            <a:r>
              <a:rPr sz="1200" b="1" i="0">
                <a:solidFill>
                  <a:srgbClr val="0B2A4A"/>
                </a:solidFill>
                <a:latin typeface="Arial"/>
              </a:rPr>
              <a:t>AMOS · WinAir · IFS Maintain</a:t>
            </a:r>
          </a:p>
          <a:p>
            <a:pPr algn="l">
              <a:spcBef>
                <a:spcPts val="0"/>
              </a:spcBef>
              <a:spcAft>
                <a:spcPts val="1100"/>
              </a:spcAft>
            </a:pPr>
            <a:r>
              <a:rPr sz="1150" b="0" i="0">
                <a:solidFill>
                  <a:srgbClr val="5A6B7B"/>
                </a:solidFill>
                <a:latin typeface="Arial"/>
              </a:rPr>
              <a:t>Commercial MRO systems → Phase-2 REST write-back targets</a:t>
            </a:r>
          </a:p>
          <a:p>
            <a:pPr algn="l">
              <a:spcBef>
                <a:spcPts val="0"/>
              </a:spcBef>
              <a:spcAft>
                <a:spcPts val="100"/>
              </a:spcAft>
            </a:pPr>
            <a:r>
              <a:rPr sz="1200" b="1" i="0">
                <a:solidFill>
                  <a:srgbClr val="0B2A4A"/>
                </a:solidFill>
                <a:latin typeface="Arial"/>
              </a:rPr>
              <a:t>ACMS exports · MQTT gateways</a:t>
            </a:r>
          </a:p>
          <a:p>
            <a:pPr algn="l">
              <a:spcBef>
                <a:spcPts val="0"/>
              </a:spcBef>
              <a:spcAft>
                <a:spcPts val="1100"/>
              </a:spcAft>
            </a:pPr>
            <a:r>
              <a:rPr sz="1150" b="0" i="0">
                <a:solidFill>
                  <a:srgbClr val="5A6B7B"/>
                </a:solidFill>
                <a:latin typeface="Arial"/>
              </a:rPr>
              <a:t>Industry pattern for health telemetry → production counterpart of our 2 s feed</a:t>
            </a:r>
          </a:p>
        </p:txBody>
      </p:sp>
      <p:sp>
        <p:nvSpPr>
          <p:cNvPr id="17418" name="Artefact header"/>
          <p:cNvSpPr/>
          <p:nvPr/>
        </p:nvSpPr>
        <p:spPr>
          <a:xfrm>
            <a:off x="9144000" y="1536192"/>
            <a:ext cx="2679191" cy="329184"/>
          </a:xfrm>
          <a:prstGeom prst="rect">
            <a:avLst/>
          </a:prstGeom>
          <a:solidFill>
            <a:srgbClr val="E8890C"/>
          </a:solidFill>
          <a:ln>
            <a:noFill/>
          </a:ln>
          <a:effectLst/>
        </p:spPr>
        <p:txBody>
          <a:bodyPr rtlCol="0" anchor="ctr" wrap="square" lIns="109728" rIns="109728" tIns="27432" bIns="27432"/>
          <a:lstStyle/>
          <a:p>
            <a:pPr algn="l">
              <a:spcBef>
                <a:spcPts val="0"/>
              </a:spcBef>
              <a:spcAft>
                <a:spcPts val="0"/>
              </a:spcAft>
            </a:pPr>
            <a:r>
              <a:rPr sz="1250" b="1" i="0">
                <a:solidFill>
                  <a:srgbClr val="FFFFFF"/>
                </a:solidFill>
                <a:latin typeface="Arial"/>
              </a:rPr>
              <a:t>Our artefacts</a:t>
            </a:r>
          </a:p>
        </p:txBody>
      </p:sp>
      <p:sp>
        <p:nvSpPr>
          <p:cNvPr id="17419" name="Artefact body"/>
          <p:cNvSpPr/>
          <p:nvPr/>
        </p:nvSpPr>
        <p:spPr>
          <a:xfrm>
            <a:off x="9144000" y="1865376"/>
            <a:ext cx="2679191" cy="3611880"/>
          </a:xfrm>
          <a:prstGeom prst="rect">
            <a:avLst/>
          </a:prstGeom>
          <a:solidFill>
            <a:srgbClr val="FDF1E0"/>
          </a:solidFill>
          <a:ln>
            <a:noFill/>
          </a:ln>
          <a:effectLst/>
        </p:spPr>
        <p:txBody>
          <a:bodyPr rtlCol="0" anchor="t" wrap="square" lIns="54864" rIns="54864" tIns="27432" bIns="27432"/>
          <a:lstStyle/>
          <a:p>
            <a:pPr algn="l">
              <a:spcBef>
                <a:spcPts val="0"/>
              </a:spcBef>
              <a:spcAft>
                <a:spcPts val="0"/>
              </a:spcAft>
            </a:pPr>
            <a:r>
              <a:rPr sz="1200" b="0" i="0">
                <a:solidFill>
                  <a:srgbClr val="1B2733"/>
                </a:solidFill>
                <a:latin typeface="Arial"/>
              </a:rPr>
              <a:t/>
            </a:r>
          </a:p>
        </p:txBody>
      </p:sp>
      <p:pic>
        <p:nvPicPr>
          <p:cNvPr id="17420" name="QR live prototype" descr="qr.png"/>
          <p:cNvPicPr>
            <a:picLocks noChangeAspect="1"/>
          </p:cNvPicPr>
          <p:nvPr/>
        </p:nvPicPr>
        <p:blipFill>
          <a:blip r:embed="rId4"/>
          <a:stretch>
            <a:fillRect/>
          </a:stretch>
        </p:blipFill>
        <p:spPr>
          <a:xfrm>
            <a:off x="9820656" y="1975104"/>
            <a:ext cx="1325880" cy="1325880"/>
          </a:xfrm>
          <a:prstGeom prst="rect">
            <a:avLst/>
          </a:prstGeom>
        </p:spPr>
      </p:pic>
      <p:sp>
        <p:nvSpPr>
          <p:cNvPr id="17421" name="Artefact links"/>
          <p:cNvSpPr/>
          <p:nvPr/>
        </p:nvSpPr>
        <p:spPr>
          <a:xfrm>
            <a:off x="9217152" y="3337560"/>
            <a:ext cx="2532887" cy="2148840"/>
          </a:xfrm>
          <a:prstGeom prst="rect">
            <a:avLst/>
          </a:prstGeom>
          <a:noFill/>
          <a:ln>
            <a:noFill/>
          </a:ln>
          <a:effectLst/>
        </p:spPr>
        <p:txBody>
          <a:bodyPr rtlCol="0" anchor="t" wrap="square" lIns="18288" rIns="18288" tIns="27432" bIns="27432"/>
          <a:lstStyle/>
          <a:p>
            <a:pPr algn="l">
              <a:spcBef>
                <a:spcPts val="0"/>
              </a:spcBef>
              <a:spcAft>
                <a:spcPts val="0"/>
              </a:spcAft>
            </a:pPr>
            <a:r>
              <a:rPr sz="1100" b="1" i="0">
                <a:solidFill>
                  <a:srgbClr val="0B2A4A"/>
                </a:solidFill>
                <a:latin typeface="Arial"/>
              </a:rPr>
              <a:t>Live prototype (scan)</a:t>
            </a:r>
          </a:p>
          <a:p>
            <a:pPr algn="l">
              <a:spcBef>
                <a:spcPts val="0"/>
              </a:spcBef>
              <a:spcAft>
                <a:spcPts val="0"/>
              </a:spcAft>
            </a:pPr>
            <a:r>
              <a:rPr sz="1050" b="0" i="0">
                <a:solidFill>
                  <a:srgbClr val="0070C0"/>
                </a:solidFill>
                <a:latin typeface="Arial"/>
                <a:hlinkClick r:id="rId5"/>
              </a:rPr>
              <a:t>airpower-predictive-</a:t>
            </a:r>
          </a:p>
          <a:p>
            <a:pPr algn="l">
              <a:spcBef>
                <a:spcPts val="0"/>
              </a:spcBef>
              <a:spcAft>
                <a:spcPts val="800"/>
              </a:spcAft>
            </a:pPr>
            <a:r>
              <a:rPr sz="1050" b="0" i="0">
                <a:solidFill>
                  <a:srgbClr val="0070C0"/>
                </a:solidFill>
                <a:latin typeface="Arial"/>
                <a:hlinkClick r:id="rId5"/>
              </a:rPr>
              <a:t>maintenance.vercel.app</a:t>
            </a:r>
          </a:p>
          <a:p>
            <a:pPr algn="l">
              <a:spcBef>
                <a:spcPts val="0"/>
              </a:spcBef>
              <a:spcAft>
                <a:spcPts val="0"/>
              </a:spcAft>
            </a:pPr>
            <a:r>
              <a:rPr sz="1100" b="1" i="0">
                <a:solidFill>
                  <a:srgbClr val="0B2A4A"/>
                </a:solidFill>
                <a:latin typeface="Arial"/>
              </a:rPr>
              <a:t>Source code</a:t>
            </a:r>
          </a:p>
          <a:p>
            <a:pPr algn="l">
              <a:spcBef>
                <a:spcPts val="0"/>
              </a:spcBef>
              <a:spcAft>
                <a:spcPts val="0"/>
              </a:spcAft>
            </a:pPr>
            <a:r>
              <a:rPr sz="1050" b="0" i="0">
                <a:solidFill>
                  <a:srgbClr val="0070C0"/>
                </a:solidFill>
                <a:latin typeface="Arial"/>
                <a:hlinkClick r:id="rId6"/>
              </a:rPr>
              <a:t>github.com/qwertypoiuy9/</a:t>
            </a:r>
          </a:p>
          <a:p>
            <a:pPr algn="l">
              <a:spcBef>
                <a:spcPts val="0"/>
              </a:spcBef>
              <a:spcAft>
                <a:spcPts val="800"/>
              </a:spcAft>
            </a:pPr>
            <a:r>
              <a:rPr sz="1050" b="0" i="0">
                <a:solidFill>
                  <a:srgbClr val="0070C0"/>
                </a:solidFill>
                <a:latin typeface="Arial"/>
                <a:hlinkClick r:id="rId6"/>
              </a:rPr>
              <a:t>SIH_249-devin</a:t>
            </a:r>
          </a:p>
          <a:p>
            <a:pPr algn="l">
              <a:spcBef>
                <a:spcPts val="0"/>
              </a:spcBef>
              <a:spcAft>
                <a:spcPts val="0"/>
              </a:spcAft>
            </a:pPr>
            <a:r>
              <a:rPr sz="1000" b="0" i="0">
                <a:solidFill>
                  <a:srgbClr val="5A6B7B"/>
                </a:solidFill>
                <a:latin typeface="Arial"/>
              </a:rPr>
              <a:t>Architecture &amp; audit write-up and demo script available on request</a:t>
            </a:r>
          </a:p>
        </p:txBody>
      </p:sp>
      <p:sp>
        <p:nvSpPr>
          <p:cNvPr id="17422" name="Principles"/>
          <p:cNvSpPr/>
          <p:nvPr/>
        </p:nvSpPr>
        <p:spPr>
          <a:xfrm>
            <a:off x="365760" y="5623560"/>
            <a:ext cx="11457432" cy="566928"/>
          </a:xfrm>
          <a:prstGeom prst="roundRect">
            <a:avLst>
              <a:gd name="adj" fmla="val 20000"/>
            </a:avLst>
          </a:prstGeom>
          <a:solidFill>
            <a:srgbClr val="FFFFFF"/>
          </a:solidFill>
          <a:ln w="9525">
            <a:solidFill>
              <a:srgbClr val="BFD9F0"/>
            </a:solidFill>
          </a:ln>
          <a:effectLst/>
        </p:spPr>
        <p:txBody>
          <a:bodyPr rtlCol="0" anchor="ctr" wrap="square" lIns="137160" rIns="137160" tIns="27432" bIns="27432"/>
          <a:lstStyle/>
          <a:p>
            <a:pPr algn="l">
              <a:spcBef>
                <a:spcPts val="0"/>
              </a:spcBef>
              <a:spcAft>
                <a:spcPts val="0"/>
              </a:spcAft>
            </a:pPr>
            <a:r>
              <a:rPr sz="1150" b="1" i="0">
                <a:solidFill>
                  <a:srgbClr val="0B2A4A"/>
                </a:solidFill>
                <a:latin typeface="Arial"/>
              </a:rPr>
              <a:t>Design principles drawn from this research:  </a:t>
            </a:r>
            <a:r>
              <a:rPr sz="1100" b="0" i="0">
                <a:solidFill>
                  <a:srgbClr val="1B2733"/>
                </a:solidFill>
                <a:latin typeface="Arial"/>
              </a:rPr>
              <a:t>open standards  ·  modular layers  ·  data ownership stays with the user  ·  human-in-the-loop with confidence on every alert  ·  honest real-vs-simulated labelling</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